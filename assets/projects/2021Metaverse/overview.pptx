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/>
    <p:restoredTop sz="94643"/>
  </p:normalViewPr>
  <p:slideViewPr>
    <p:cSldViewPr snapToGrid="0">
      <p:cViewPr varScale="1">
        <p:scale>
          <a:sx n="73" d="100"/>
          <a:sy n="73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5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9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2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3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86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6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7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1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44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9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EAB79-1D87-8745-A9A8-B1278514689B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32BFA-175C-5142-AC41-4772E86384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1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06AE78B-E788-99AC-74CF-873366CF5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150" y="2475987"/>
            <a:ext cx="7772400" cy="21563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C66AF3-6258-F630-B2C5-135F1ECD0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79" y="4891747"/>
            <a:ext cx="7772400" cy="14269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6A45956-6A30-F8DA-95BD-7E7D7E1E2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018" y="6606756"/>
            <a:ext cx="7772400" cy="13847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17BBDF4-0B5A-C13A-A591-1713EEE98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679" y="8323776"/>
            <a:ext cx="7772400" cy="2146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29672F-C80C-6A2E-AFDB-8EB75EE37220}"/>
              </a:ext>
            </a:extLst>
          </p:cNvPr>
          <p:cNvSpPr txBox="1"/>
          <p:nvPr/>
        </p:nvSpPr>
        <p:spPr>
          <a:xfrm>
            <a:off x="476621" y="2227385"/>
            <a:ext cx="5586683" cy="744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600" dirty="0">
                <a:latin typeface="Helvetica" pitchFamily="2" charset="0"/>
              </a:rPr>
              <a:t>The </a:t>
            </a:r>
            <a:r>
              <a:rPr lang="ko-KR" altLang="ko-KR" sz="1600" b="1" dirty="0" err="1">
                <a:latin typeface="Helvetica" pitchFamily="2" charset="0"/>
              </a:rPr>
              <a:t>Yonsei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Literature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Museum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was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established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commemorate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distinguished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writers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from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University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to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preserve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promote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their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literary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spirit</a:t>
            </a:r>
            <a:r>
              <a:rPr lang="ko-KR" altLang="ko-KR" sz="1600" dirty="0">
                <a:latin typeface="Helvetica" pitchFamily="2" charset="0"/>
              </a:rPr>
              <a:t>. </a:t>
            </a:r>
            <a:r>
              <a:rPr lang="ko-KR" altLang="ko-KR" sz="1600" dirty="0" err="1">
                <a:latin typeface="Helvetica" pitchFamily="2" charset="0"/>
              </a:rPr>
              <a:t>Over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years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University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has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produced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many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acclaimed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writers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both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in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Korea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abroad</a:t>
            </a:r>
            <a:r>
              <a:rPr lang="ko-KR" altLang="ko-KR" sz="1600" dirty="0">
                <a:latin typeface="Helvetica" pitchFamily="2" charset="0"/>
              </a:rPr>
              <a:t>.</a:t>
            </a:r>
            <a:endParaRPr lang="en-US" altLang="ko-KR" sz="1600" dirty="0">
              <a:latin typeface="Helvetica" pitchFamily="2" charset="0"/>
            </a:endParaRPr>
          </a:p>
          <a:p>
            <a:pPr>
              <a:lnSpc>
                <a:spcPct val="150000"/>
              </a:lnSpc>
              <a:buNone/>
            </a:pPr>
            <a:endParaRPr lang="ko-KR" altLang="ko-KR" sz="1600" dirty="0">
              <a:latin typeface="Helvetica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600" dirty="0" err="1">
                <a:latin typeface="Helvetica" pitchFamily="2" charset="0"/>
              </a:rPr>
              <a:t>Inspired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by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University’s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founding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principles</a:t>
            </a:r>
            <a:r>
              <a:rPr lang="ko-KR" altLang="ko-KR" sz="1600" dirty="0">
                <a:latin typeface="Helvetica" pitchFamily="2" charset="0"/>
              </a:rPr>
              <a:t> of </a:t>
            </a:r>
            <a:r>
              <a:rPr lang="ko-KR" altLang="ko-KR" sz="1600" b="1" dirty="0" err="1">
                <a:latin typeface="Helvetica" pitchFamily="2" charset="0"/>
              </a:rPr>
              <a:t>Truth</a:t>
            </a:r>
            <a:r>
              <a:rPr lang="ko-KR" altLang="ko-KR" sz="1600" b="1" dirty="0">
                <a:latin typeface="Helvetica" pitchFamily="2" charset="0"/>
              </a:rPr>
              <a:t> and </a:t>
            </a:r>
            <a:r>
              <a:rPr lang="ko-KR" altLang="ko-KR" sz="1600" b="1" dirty="0" err="1">
                <a:latin typeface="Helvetica" pitchFamily="2" charset="0"/>
              </a:rPr>
              <a:t>Freedom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museum’s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exhibition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halls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were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named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Truth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Gallery</a:t>
            </a:r>
            <a:r>
              <a:rPr lang="ko-KR" altLang="ko-KR" sz="1600" b="1" dirty="0">
                <a:latin typeface="Helvetica" pitchFamily="2" charset="0"/>
              </a:rPr>
              <a:t>, </a:t>
            </a:r>
            <a:r>
              <a:rPr lang="ko-KR" altLang="ko-KR" sz="1600" b="1" dirty="0" err="1">
                <a:latin typeface="Helvetica" pitchFamily="2" charset="0"/>
              </a:rPr>
              <a:t>Freedom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Gallery</a:t>
            </a:r>
            <a:r>
              <a:rPr lang="ko-KR" altLang="ko-KR" sz="1600" b="1" dirty="0">
                <a:latin typeface="Helvetica" pitchFamily="2" charset="0"/>
              </a:rPr>
              <a:t>, Guardian </a:t>
            </a:r>
            <a:r>
              <a:rPr lang="ko-KR" altLang="ko-KR" sz="1600" b="1" dirty="0" err="1">
                <a:latin typeface="Helvetica" pitchFamily="2" charset="0"/>
              </a:rPr>
              <a:t>Gallery</a:t>
            </a:r>
            <a:r>
              <a:rPr lang="ko-KR" altLang="ko-KR" sz="1600" b="1" dirty="0">
                <a:latin typeface="Helvetica" pitchFamily="2" charset="0"/>
              </a:rPr>
              <a:t>, and </a:t>
            </a:r>
            <a:r>
              <a:rPr lang="ko-KR" altLang="ko-KR" sz="1600" b="1" dirty="0" err="1">
                <a:latin typeface="Helvetica" pitchFamily="2" charset="0"/>
              </a:rPr>
              <a:t>Justice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Gallery</a:t>
            </a:r>
            <a:r>
              <a:rPr lang="ko-KR" altLang="ko-KR" sz="1600" dirty="0">
                <a:latin typeface="Helvetica" pitchFamily="2" charset="0"/>
              </a:rPr>
              <a:t>. </a:t>
            </a:r>
            <a:r>
              <a:rPr lang="ko-KR" altLang="ko-KR" sz="1600" dirty="0" err="1">
                <a:latin typeface="Helvetica" pitchFamily="2" charset="0"/>
              </a:rPr>
              <a:t>Its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auditorium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seminar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room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were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also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named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after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three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prominent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alumni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writers</a:t>
            </a:r>
            <a:r>
              <a:rPr lang="ko-KR" altLang="ko-KR" sz="1600" dirty="0">
                <a:latin typeface="Helvetica" pitchFamily="2" charset="0"/>
              </a:rPr>
              <a:t>: </a:t>
            </a:r>
            <a:r>
              <a:rPr lang="ko-KR" altLang="ko-KR" sz="1600" b="1" dirty="0" err="1">
                <a:latin typeface="Helvetica" pitchFamily="2" charset="0"/>
              </a:rPr>
              <a:t>Yun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Dong-ju</a:t>
            </a:r>
            <a:r>
              <a:rPr lang="ko-KR" altLang="ko-KR" sz="1600" b="1" dirty="0">
                <a:latin typeface="Helvetica" pitchFamily="2" charset="0"/>
              </a:rPr>
              <a:t>, </a:t>
            </a:r>
            <a:r>
              <a:rPr lang="ko-KR" altLang="ko-KR" sz="1600" b="1" dirty="0" err="1">
                <a:latin typeface="Helvetica" pitchFamily="2" charset="0"/>
              </a:rPr>
              <a:t>Kim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Su-young</a:t>
            </a:r>
            <a:r>
              <a:rPr lang="ko-KR" altLang="ko-KR" sz="1600" b="1" dirty="0">
                <a:latin typeface="Helvetica" pitchFamily="2" charset="0"/>
              </a:rPr>
              <a:t>, and </a:t>
            </a:r>
            <a:r>
              <a:rPr lang="ko-KR" altLang="ko-KR" sz="1600" b="1" dirty="0" err="1">
                <a:latin typeface="Helvetica" pitchFamily="2" charset="0"/>
              </a:rPr>
              <a:t>Ki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Hyung-do</a:t>
            </a:r>
            <a:r>
              <a:rPr lang="ko-KR" altLang="ko-KR" sz="1600" dirty="0">
                <a:latin typeface="Helvetica" pitchFamily="2" charset="0"/>
              </a:rPr>
              <a:t>.</a:t>
            </a:r>
            <a:endParaRPr lang="en-US" altLang="ko-KR" sz="1600" dirty="0">
              <a:latin typeface="Helvetica" pitchFamily="2" charset="0"/>
            </a:endParaRPr>
          </a:p>
          <a:p>
            <a:pPr>
              <a:lnSpc>
                <a:spcPct val="150000"/>
              </a:lnSpc>
              <a:buNone/>
            </a:pPr>
            <a:endParaRPr lang="ko-KR" altLang="ko-KR" sz="1600" dirty="0">
              <a:latin typeface="Helvetica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ko-KR" altLang="ko-KR" sz="1600" dirty="0" err="1">
                <a:latin typeface="Helvetica" pitchFamily="2" charset="0"/>
              </a:rPr>
              <a:t>Spanning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five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floors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Literature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Museum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also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features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plaza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with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garden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inspired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by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pattern</a:t>
            </a:r>
            <a:r>
              <a:rPr lang="ko-KR" altLang="ko-KR" sz="1600" dirty="0">
                <a:latin typeface="Helvetica" pitchFamily="2" charset="0"/>
              </a:rPr>
              <a:t> of </a:t>
            </a:r>
            <a:r>
              <a:rPr lang="ko-KR" altLang="ko-KR" sz="1600" dirty="0" err="1">
                <a:latin typeface="Helvetica" pitchFamily="2" charset="0"/>
              </a:rPr>
              <a:t>Yonsei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University’s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emblem</a:t>
            </a:r>
            <a:r>
              <a:rPr lang="ko-KR" altLang="ko-KR" sz="1600" dirty="0">
                <a:latin typeface="Helvetica" pitchFamily="2" charset="0"/>
              </a:rPr>
              <a:t>. </a:t>
            </a:r>
            <a:r>
              <a:rPr lang="ko-KR" altLang="ko-KR" sz="1600" dirty="0" err="1">
                <a:latin typeface="Helvetica" pitchFamily="2" charset="0"/>
              </a:rPr>
              <a:t>By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incorporating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concept</a:t>
            </a:r>
            <a:r>
              <a:rPr lang="ko-KR" altLang="ko-KR" sz="1600" dirty="0">
                <a:latin typeface="Helvetica" pitchFamily="2" charset="0"/>
              </a:rPr>
              <a:t> of </a:t>
            </a:r>
            <a:r>
              <a:rPr lang="ko-KR" altLang="ko-KR" sz="1600" dirty="0" err="1">
                <a:latin typeface="Helvetica" pitchFamily="2" charset="0"/>
              </a:rPr>
              <a:t>a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b="1" dirty="0">
                <a:latin typeface="Helvetica" pitchFamily="2" charset="0"/>
              </a:rPr>
              <a:t>“</a:t>
            </a:r>
            <a:r>
              <a:rPr lang="ko-KR" altLang="ko-KR" sz="1600" b="1" dirty="0" err="1">
                <a:latin typeface="Helvetica" pitchFamily="2" charset="0"/>
              </a:rPr>
              <a:t>metaverse</a:t>
            </a:r>
            <a:r>
              <a:rPr lang="ko-KR" altLang="ko-KR" sz="1600" b="1" dirty="0">
                <a:latin typeface="Helvetica" pitchFamily="2" charset="0"/>
              </a:rPr>
              <a:t>” </a:t>
            </a:r>
            <a:r>
              <a:rPr lang="ko-KR" altLang="ko-KR" sz="1600" b="1" dirty="0" err="1">
                <a:latin typeface="Helvetica" pitchFamily="2" charset="0"/>
              </a:rPr>
              <a:t>virtual</a:t>
            </a:r>
            <a:r>
              <a:rPr lang="ko-KR" altLang="ko-KR" sz="1600" b="1" dirty="0">
                <a:latin typeface="Helvetica" pitchFamily="2" charset="0"/>
              </a:rPr>
              <a:t> </a:t>
            </a:r>
            <a:r>
              <a:rPr lang="ko-KR" altLang="ko-KR" sz="1600" b="1" dirty="0" err="1">
                <a:latin typeface="Helvetica" pitchFamily="2" charset="0"/>
              </a:rPr>
              <a:t>space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the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museum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brings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together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not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only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literary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works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but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also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a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wide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range</a:t>
            </a:r>
            <a:r>
              <a:rPr lang="ko-KR" altLang="ko-KR" sz="1600" dirty="0">
                <a:latin typeface="Helvetica" pitchFamily="2" charset="0"/>
              </a:rPr>
              <a:t> of </a:t>
            </a:r>
            <a:r>
              <a:rPr lang="ko-KR" altLang="ko-KR" sz="1600" dirty="0" err="1">
                <a:latin typeface="Helvetica" pitchFamily="2" charset="0"/>
              </a:rPr>
              <a:t>content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including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videos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audio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materials</a:t>
            </a:r>
            <a:r>
              <a:rPr lang="ko-KR" altLang="ko-KR" sz="1600" dirty="0">
                <a:latin typeface="Helvetica" pitchFamily="2" charset="0"/>
              </a:rPr>
              <a:t>, and </a:t>
            </a:r>
            <a:r>
              <a:rPr lang="ko-KR" altLang="ko-KR" sz="1600" dirty="0" err="1">
                <a:latin typeface="Helvetica" pitchFamily="2" charset="0"/>
              </a:rPr>
              <a:t>publications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from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Korea</a:t>
            </a:r>
            <a:r>
              <a:rPr lang="ko-KR" altLang="ko-KR" sz="1600" dirty="0">
                <a:latin typeface="Helvetica" pitchFamily="2" charset="0"/>
              </a:rPr>
              <a:t> and </a:t>
            </a:r>
            <a:r>
              <a:rPr lang="ko-KR" altLang="ko-KR" sz="1600" dirty="0" err="1">
                <a:latin typeface="Helvetica" pitchFamily="2" charset="0"/>
              </a:rPr>
              <a:t>abroad</a:t>
            </a:r>
            <a:r>
              <a:rPr lang="ko-KR" altLang="ko-KR" sz="1600" dirty="0">
                <a:latin typeface="Helvetica" pitchFamily="2" charset="0"/>
              </a:rPr>
              <a:t>, </a:t>
            </a:r>
            <a:r>
              <a:rPr lang="ko-KR" altLang="ko-KR" sz="1600" dirty="0" err="1">
                <a:latin typeface="Helvetica" pitchFamily="2" charset="0"/>
              </a:rPr>
              <a:t>all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in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one</a:t>
            </a:r>
            <a:r>
              <a:rPr lang="ko-KR" altLang="ko-KR" sz="1600" dirty="0">
                <a:latin typeface="Helvetica" pitchFamily="2" charset="0"/>
              </a:rPr>
              <a:t> </a:t>
            </a:r>
            <a:r>
              <a:rPr lang="ko-KR" altLang="ko-KR" sz="1600" dirty="0" err="1">
                <a:latin typeface="Helvetica" pitchFamily="2" charset="0"/>
              </a:rPr>
              <a:t>place</a:t>
            </a:r>
            <a:r>
              <a:rPr lang="ko-KR" altLang="ko-KR" sz="1600" dirty="0">
                <a:latin typeface="Helvetica" pitchFamily="2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A9F8AE-6EC2-3063-EB3B-1BA03B792A86}"/>
              </a:ext>
            </a:extLst>
          </p:cNvPr>
          <p:cNvSpPr txBox="1"/>
          <p:nvPr/>
        </p:nvSpPr>
        <p:spPr>
          <a:xfrm>
            <a:off x="6239150" y="2106655"/>
            <a:ext cx="85934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500" b="1" dirty="0" err="1"/>
              <a:t>Yonsei</a:t>
            </a:r>
            <a:r>
              <a:rPr lang="ko-KR" altLang="ko-KR" sz="1500" b="1" dirty="0"/>
              <a:t> </a:t>
            </a:r>
            <a:r>
              <a:rPr lang="ko-KR" altLang="ko-KR" sz="1500" b="1" dirty="0" err="1"/>
              <a:t>Literature</a:t>
            </a:r>
            <a:r>
              <a:rPr lang="ko-KR" altLang="ko-KR" sz="1500" b="1" dirty="0"/>
              <a:t> </a:t>
            </a:r>
            <a:r>
              <a:rPr lang="ko-KR" altLang="ko-KR" sz="1500" b="1" dirty="0" err="1"/>
              <a:t>Museum</a:t>
            </a:r>
            <a:r>
              <a:rPr lang="ko-KR" altLang="ko-KR" sz="1500" b="1" dirty="0"/>
              <a:t> </a:t>
            </a:r>
            <a:r>
              <a:rPr lang="ko-KR" altLang="ko-KR" sz="1500" dirty="0"/>
              <a:t>(</a:t>
            </a:r>
            <a:r>
              <a:rPr lang="ko-KR" altLang="ko-KR" sz="1500" dirty="0" err="1"/>
              <a:t>Exterior</a:t>
            </a:r>
            <a:r>
              <a:rPr lang="ko-KR" altLang="ko-KR" sz="1500" dirty="0"/>
              <a:t>): </a:t>
            </a:r>
            <a:r>
              <a:rPr lang="ko-KR" altLang="ko-KR" sz="1500" b="1" dirty="0" err="1"/>
              <a:t>Garden</a:t>
            </a:r>
            <a:r>
              <a:rPr lang="ko-KR" altLang="ko-KR" sz="1500" b="1" dirty="0"/>
              <a:t> &amp; Guardian </a:t>
            </a:r>
            <a:r>
              <a:rPr lang="ko-KR" altLang="ko-KR" sz="1500" b="1" dirty="0" err="1"/>
              <a:t>Gallery</a:t>
            </a:r>
            <a:r>
              <a:rPr lang="ko-KR" altLang="en-US" sz="1500" b="1" dirty="0"/>
              <a:t> </a:t>
            </a:r>
            <a:r>
              <a:rPr lang="ko-KR" altLang="ko-KR" sz="1500" dirty="0"/>
              <a:t>(</a:t>
            </a:r>
            <a:r>
              <a:rPr lang="ko-KR" altLang="ko-KR" sz="1500" dirty="0" err="1"/>
              <a:t>Spawn</a:t>
            </a:r>
            <a:r>
              <a:rPr lang="ko-KR" altLang="ko-KR" sz="1500" dirty="0"/>
              <a:t> </a:t>
            </a:r>
            <a:r>
              <a:rPr lang="ko-KR" altLang="ko-KR" sz="1500" dirty="0" err="1"/>
              <a:t>Area</a:t>
            </a:r>
            <a:r>
              <a:rPr lang="ko-KR" altLang="ko-KR" sz="15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A08056-1CE5-6EDA-7EDC-B036EF673854}"/>
              </a:ext>
            </a:extLst>
          </p:cNvPr>
          <p:cNvSpPr txBox="1"/>
          <p:nvPr/>
        </p:nvSpPr>
        <p:spPr>
          <a:xfrm>
            <a:off x="6239150" y="4603670"/>
            <a:ext cx="85934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500" b="1" dirty="0"/>
              <a:t>Interior by Floor </a:t>
            </a:r>
            <a:r>
              <a:rPr lang="en" altLang="ko-KR" sz="1500" dirty="0"/>
              <a:t>(From left: 1st-floor lobby, 2nd floor, and 3rd floor)</a:t>
            </a:r>
            <a:endParaRPr lang="ko-KR" altLang="ko-KR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B5906-822B-9B24-3852-DD9A8C99C16B}"/>
              </a:ext>
            </a:extLst>
          </p:cNvPr>
          <p:cNvSpPr txBox="1"/>
          <p:nvPr/>
        </p:nvSpPr>
        <p:spPr>
          <a:xfrm>
            <a:off x="6239150" y="6309378"/>
            <a:ext cx="85934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500" b="1" dirty="0"/>
              <a:t>Exhibition Gallery Interiors</a:t>
            </a:r>
            <a:r>
              <a:rPr lang="en" altLang="ko-KR" sz="1500" dirty="0"/>
              <a:t> (From left: Freedom Gallery, Truth Gallery, and Justice Gallery)</a:t>
            </a:r>
            <a:endParaRPr lang="ko-KR" altLang="ko-KR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2702B1-C125-E531-4F87-6F43BAC90087}"/>
              </a:ext>
            </a:extLst>
          </p:cNvPr>
          <p:cNvSpPr txBox="1"/>
          <p:nvPr/>
        </p:nvSpPr>
        <p:spPr>
          <a:xfrm>
            <a:off x="6239150" y="8032671"/>
            <a:ext cx="859349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500" b="1" dirty="0"/>
              <a:t>Other Facilities </a:t>
            </a:r>
            <a:r>
              <a:rPr lang="en" altLang="ko-KR" sz="1500" dirty="0"/>
              <a:t>(From left: Yun Dong-</a:t>
            </a:r>
            <a:r>
              <a:rPr lang="en" altLang="ko-KR" sz="1500" dirty="0" err="1"/>
              <a:t>ju</a:t>
            </a:r>
            <a:r>
              <a:rPr lang="en" altLang="ko-KR" sz="1500" dirty="0"/>
              <a:t> Hall and elevator)</a:t>
            </a:r>
            <a:endParaRPr lang="ko-KR" altLang="ko-KR" sz="15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5F7817D-AEE6-CA67-6CB8-A75E9F95F8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2457"/>
          <a:stretch>
            <a:fillRect/>
          </a:stretch>
        </p:blipFill>
        <p:spPr>
          <a:xfrm>
            <a:off x="1631274" y="422030"/>
            <a:ext cx="3096661" cy="154744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39A0852-007E-C7C4-2CBF-67996D8272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788" t="81105" b="3078"/>
          <a:stretch>
            <a:fillRect/>
          </a:stretch>
        </p:blipFill>
        <p:spPr>
          <a:xfrm>
            <a:off x="6062859" y="1158916"/>
            <a:ext cx="4861473" cy="74022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388C21-F0F1-C643-F019-C76A22DABC9C}"/>
              </a:ext>
            </a:extLst>
          </p:cNvPr>
          <p:cNvSpPr txBox="1"/>
          <p:nvPr/>
        </p:nvSpPr>
        <p:spPr>
          <a:xfrm>
            <a:off x="4196849" y="659530"/>
            <a:ext cx="8593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/>
              <a:t>Yonsei Literature Museum (YLM) since 2022</a:t>
            </a:r>
            <a:endParaRPr lang="ko-KR" altLang="ko-KR" sz="3200" b="1" dirty="0"/>
          </a:p>
        </p:txBody>
      </p:sp>
    </p:spTree>
    <p:extLst>
      <p:ext uri="{BB962C8B-B14F-4D97-AF65-F5344CB8AC3E}">
        <p14:creationId xmlns:p14="http://schemas.microsoft.com/office/powerpoint/2010/main" val="233033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234</Words>
  <Application>Microsoft Macintosh PowerPoint</Application>
  <PresentationFormat>사용자 지정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정다운</dc:creator>
  <cp:lastModifiedBy>정다운</cp:lastModifiedBy>
  <cp:revision>1</cp:revision>
  <dcterms:created xsi:type="dcterms:W3CDTF">2026-08-26T11:06:32Z</dcterms:created>
  <dcterms:modified xsi:type="dcterms:W3CDTF">2026-08-26T12:27:54Z</dcterms:modified>
</cp:coreProperties>
</file>