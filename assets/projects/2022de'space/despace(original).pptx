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77" r:id="rId9"/>
    <p:sldId id="267" r:id="rId10"/>
    <p:sldId id="270" r:id="rId11"/>
    <p:sldId id="268" r:id="rId12"/>
    <p:sldId id="276" r:id="rId13"/>
    <p:sldId id="269" r:id="rId14"/>
    <p:sldId id="265" r:id="rId15"/>
    <p:sldId id="278" r:id="rId16"/>
    <p:sldId id="271" r:id="rId17"/>
    <p:sldId id="272" r:id="rId18"/>
    <p:sldId id="273" r:id="rId19"/>
    <p:sldId id="274" r:id="rId20"/>
    <p:sldId id="275" r:id="rId2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3F59"/>
    <a:srgbClr val="1A1D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
    <p:restoredTop sz="94643"/>
  </p:normalViewPr>
  <p:slideViewPr>
    <p:cSldViewPr snapToGrid="0">
      <p:cViewPr>
        <p:scale>
          <a:sx n="103" d="100"/>
          <a:sy n="103" d="100"/>
        </p:scale>
        <p:origin x="144"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43D768-FE50-4C44-8AAB-B9B8250B2F37}" type="datetimeFigureOut">
              <a:rPr lang="en-US" smtClean="0"/>
              <a:t>8/26/26</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AAC2E-61B0-D942-81E6-E945213BE282}" type="slidenum">
              <a:rPr lang="en-US" smtClean="0"/>
              <a:t>‹#›</a:t>
            </a:fld>
            <a:endParaRPr lang="en-US"/>
          </a:p>
        </p:txBody>
      </p:sp>
    </p:spTree>
    <p:extLst>
      <p:ext uri="{BB962C8B-B14F-4D97-AF65-F5344CB8AC3E}">
        <p14:creationId xmlns:p14="http://schemas.microsoft.com/office/powerpoint/2010/main" val="31845623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dirty="0"/>
          </a:p>
        </p:txBody>
      </p:sp>
      <p:sp>
        <p:nvSpPr>
          <p:cNvPr id="4" name="슬라이드 번호 개체 틀 3"/>
          <p:cNvSpPr>
            <a:spLocks noGrp="1"/>
          </p:cNvSpPr>
          <p:nvPr>
            <p:ph type="sldNum" sz="quarter" idx="5"/>
          </p:nvPr>
        </p:nvSpPr>
        <p:spPr/>
        <p:txBody>
          <a:bodyPr/>
          <a:lstStyle/>
          <a:p>
            <a:fld id="{0B1AAC2E-61B0-D942-81E6-E945213BE282}" type="slidenum">
              <a:rPr lang="en-US" smtClean="0"/>
              <a:t>20</a:t>
            </a:fld>
            <a:endParaRPr lang="en-US"/>
          </a:p>
        </p:txBody>
      </p:sp>
    </p:spTree>
    <p:extLst>
      <p:ext uri="{BB962C8B-B14F-4D97-AF65-F5344CB8AC3E}">
        <p14:creationId xmlns:p14="http://schemas.microsoft.com/office/powerpoint/2010/main" val="3693213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523E2F-F46E-0CA7-40AF-09460C8C6534}"/>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EAFC294D-E240-58F7-A3F7-F6588D95B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BA3D3189-AB45-AF64-4565-3F8860670633}"/>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5" name="바닥글 개체 틀 4">
            <a:extLst>
              <a:ext uri="{FF2B5EF4-FFF2-40B4-BE49-F238E27FC236}">
                <a16:creationId xmlns:a16="http://schemas.microsoft.com/office/drawing/2014/main" id="{24B04ACF-38A5-7693-C044-4C27BA22B002}"/>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F53CA129-6570-91EB-414C-3FB399B3A730}"/>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3901680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22E122-A677-D3C0-73DF-48805692B317}"/>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31F6C632-578B-26B8-9281-4A53F6D66BBC}"/>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0F16B310-20B2-7B98-AB4C-0AF8739900FE}"/>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5" name="바닥글 개체 틀 4">
            <a:extLst>
              <a:ext uri="{FF2B5EF4-FFF2-40B4-BE49-F238E27FC236}">
                <a16:creationId xmlns:a16="http://schemas.microsoft.com/office/drawing/2014/main" id="{0F7F8558-B586-E55E-75AB-7B20F916067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0F002860-E241-C01E-7EB2-D97F1F32D559}"/>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2690100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E1A1B44-7487-DA7D-83F3-824F9B7B04C4}"/>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307C19C9-D310-7FDF-6F3E-7CD1A6F458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BB62B923-E689-EF46-67AD-C7CF3BA0DA96}"/>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5" name="바닥글 개체 틀 4">
            <a:extLst>
              <a:ext uri="{FF2B5EF4-FFF2-40B4-BE49-F238E27FC236}">
                <a16:creationId xmlns:a16="http://schemas.microsoft.com/office/drawing/2014/main" id="{5E36FD2F-F257-F046-D563-1A11F9D00FCA}"/>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2951672F-3466-0DBD-5B8D-C3E914E9D09C}"/>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3276409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306EDA-8B5B-6688-1FD5-685B45857DF1}"/>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177735F3-B222-AA68-F11C-C9E4538692D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내용 개체 틀 3">
            <a:extLst>
              <a:ext uri="{FF2B5EF4-FFF2-40B4-BE49-F238E27FC236}">
                <a16:creationId xmlns:a16="http://schemas.microsoft.com/office/drawing/2014/main" id="{C06AA3AB-1848-62F0-06B5-B4954F83810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날짜 개체 틀 4">
            <a:extLst>
              <a:ext uri="{FF2B5EF4-FFF2-40B4-BE49-F238E27FC236}">
                <a16:creationId xmlns:a16="http://schemas.microsoft.com/office/drawing/2014/main" id="{A3681C0D-C128-0593-7C75-5E7D95CFF35E}"/>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6" name="바닥글 개체 틀 5">
            <a:extLst>
              <a:ext uri="{FF2B5EF4-FFF2-40B4-BE49-F238E27FC236}">
                <a16:creationId xmlns:a16="http://schemas.microsoft.com/office/drawing/2014/main" id="{C6181969-E553-297B-7E85-A53D0C2D1AB8}"/>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CA497D7C-1067-1677-23D4-1039985559E2}"/>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2626551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6D63E0F-EC01-B4C4-5212-B52353B259BC}"/>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EBF673B1-06AD-D83F-3638-776AA56D97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547E4BA-F04F-B333-DF71-B924C9D63A0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텍스트 개체 틀 4">
            <a:extLst>
              <a:ext uri="{FF2B5EF4-FFF2-40B4-BE49-F238E27FC236}">
                <a16:creationId xmlns:a16="http://schemas.microsoft.com/office/drawing/2014/main" id="{25DEDE45-2CB6-CFBF-479B-C6C76841B7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A2C9CFE9-D838-F4B5-BDCC-1587E24EB630}"/>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날짜 개체 틀 6">
            <a:extLst>
              <a:ext uri="{FF2B5EF4-FFF2-40B4-BE49-F238E27FC236}">
                <a16:creationId xmlns:a16="http://schemas.microsoft.com/office/drawing/2014/main" id="{A45FDFC2-CE62-7B59-CE00-CF7379255AA1}"/>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8" name="바닥글 개체 틀 7">
            <a:extLst>
              <a:ext uri="{FF2B5EF4-FFF2-40B4-BE49-F238E27FC236}">
                <a16:creationId xmlns:a16="http://schemas.microsoft.com/office/drawing/2014/main" id="{4132464C-AF59-02D0-86DE-2665B9D23C0E}"/>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6BE6420D-4FC9-F8B4-5423-F95B9FA7C59D}"/>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2769275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E075-7AE3-859D-7B60-B274262810CA}"/>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0BF82B7C-3BFE-9B72-4608-C43CF0BDCBD5}"/>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4" name="바닥글 개체 틀 3">
            <a:extLst>
              <a:ext uri="{FF2B5EF4-FFF2-40B4-BE49-F238E27FC236}">
                <a16:creationId xmlns:a16="http://schemas.microsoft.com/office/drawing/2014/main" id="{AFA3B2A7-95FC-5E9E-F1E7-6C9BDEEDB495}"/>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0F5F31C9-FC3A-2162-FA76-B6B0045FE012}"/>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4000803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A78DD2B-B36E-536F-5C63-545DA8213398}"/>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3" name="바닥글 개체 틀 2">
            <a:extLst>
              <a:ext uri="{FF2B5EF4-FFF2-40B4-BE49-F238E27FC236}">
                <a16:creationId xmlns:a16="http://schemas.microsoft.com/office/drawing/2014/main" id="{A9BFF80B-4A35-9CC6-C8B6-6285644FDC50}"/>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BA42835D-3766-DA6C-1633-13B5FABCA986}"/>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2614792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69592A1-2F58-C098-1B0F-37B3A3DEFF45}"/>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2AF73B50-47C6-35A7-50F5-451D7CF5ED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텍스트 개체 틀 3">
            <a:extLst>
              <a:ext uri="{FF2B5EF4-FFF2-40B4-BE49-F238E27FC236}">
                <a16:creationId xmlns:a16="http://schemas.microsoft.com/office/drawing/2014/main" id="{2080F705-B59A-123A-03FD-5B5C1BB9A2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D7110CF-9020-32E9-131F-AA5A1A04D9E4}"/>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6" name="바닥글 개체 틀 5">
            <a:extLst>
              <a:ext uri="{FF2B5EF4-FFF2-40B4-BE49-F238E27FC236}">
                <a16:creationId xmlns:a16="http://schemas.microsoft.com/office/drawing/2014/main" id="{06C70219-3471-7692-DB0A-EA3A5A6A4938}"/>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BE9DC1B1-5585-7E0C-A5A5-B7EEC2800B65}"/>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2193836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28DF205-B090-CB00-42E9-CFDA29E733B5}"/>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BC06DDC1-F03D-EB66-824A-E897C96AE2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9EB70F9F-FA4D-7708-5978-FD93A2E14C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4F1551C-2B5D-E58E-2326-FDE005F82DE9}"/>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6" name="바닥글 개체 틀 5">
            <a:extLst>
              <a:ext uri="{FF2B5EF4-FFF2-40B4-BE49-F238E27FC236}">
                <a16:creationId xmlns:a16="http://schemas.microsoft.com/office/drawing/2014/main" id="{FD73BB6E-1607-56B8-A789-84259F5D0486}"/>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1EF729EB-1DEC-B4E7-0CDC-19B6A43B58BC}"/>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434007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DFB42A8-B221-255E-4901-F9D977DF65AA}"/>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6147178A-D113-BFFB-447C-8346C9EF3E06}"/>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21C3A97B-0F8C-56C6-2D26-91806D861811}"/>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5" name="바닥글 개체 틀 4">
            <a:extLst>
              <a:ext uri="{FF2B5EF4-FFF2-40B4-BE49-F238E27FC236}">
                <a16:creationId xmlns:a16="http://schemas.microsoft.com/office/drawing/2014/main" id="{2B90CD08-2C72-B7FE-6081-B5E0C2EBECCA}"/>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90C82910-2E46-60FC-ACED-66F8DA33F8E2}"/>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4092360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903411C-73FE-4D83-F4E9-BC89B5FEF4D8}"/>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F6301FA3-3445-26D6-09C5-66E05DD32C0F}"/>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6F0F1505-7CCE-8726-60BA-ED238740A797}"/>
              </a:ext>
            </a:extLst>
          </p:cNvPr>
          <p:cNvSpPr>
            <a:spLocks noGrp="1"/>
          </p:cNvSpPr>
          <p:nvPr>
            <p:ph type="dt" sz="half" idx="10"/>
          </p:nvPr>
        </p:nvSpPr>
        <p:spPr/>
        <p:txBody>
          <a:bodyPr/>
          <a:lstStyle/>
          <a:p>
            <a:fld id="{1354A7F7-E9F2-A041-9EDF-DECB8B9620A7}" type="datetimeFigureOut">
              <a:rPr lang="en-US" smtClean="0"/>
              <a:t>8/26/26</a:t>
            </a:fld>
            <a:endParaRPr lang="en-US"/>
          </a:p>
        </p:txBody>
      </p:sp>
      <p:sp>
        <p:nvSpPr>
          <p:cNvPr id="5" name="바닥글 개체 틀 4">
            <a:extLst>
              <a:ext uri="{FF2B5EF4-FFF2-40B4-BE49-F238E27FC236}">
                <a16:creationId xmlns:a16="http://schemas.microsoft.com/office/drawing/2014/main" id="{C3F6F525-B825-C619-9CE5-CBF246EDF827}"/>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D5C9C820-95D7-D036-8CFE-88BA41E30044}"/>
              </a:ext>
            </a:extLst>
          </p:cNvPr>
          <p:cNvSpPr>
            <a:spLocks noGrp="1"/>
          </p:cNvSpPr>
          <p:nvPr>
            <p:ph type="sldNum" sz="quarter" idx="12"/>
          </p:nvPr>
        </p:nvSpPr>
        <p:spPr/>
        <p:txBody>
          <a:bodyPr/>
          <a:lstStyle/>
          <a:p>
            <a:fld id="{31E9ED23-5746-6647-A559-B199C50CCD87}" type="slidenum">
              <a:rPr lang="en-US" smtClean="0"/>
              <a:t>‹#›</a:t>
            </a:fld>
            <a:endParaRPr lang="en-US"/>
          </a:p>
        </p:txBody>
      </p:sp>
    </p:spTree>
    <p:extLst>
      <p:ext uri="{BB962C8B-B14F-4D97-AF65-F5344CB8AC3E}">
        <p14:creationId xmlns:p14="http://schemas.microsoft.com/office/powerpoint/2010/main" val="2218299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8A94FBA-E8A9-0E16-2F59-E58B4B314B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7A47A1C8-7E16-CAA0-9896-6DB146498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627DD1CE-FC19-4EDD-F74C-56E806C80F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54A7F7-E9F2-A041-9EDF-DECB8B9620A7}" type="datetimeFigureOut">
              <a:rPr lang="en-US" smtClean="0"/>
              <a:t>8/26/26</a:t>
            </a:fld>
            <a:endParaRPr lang="en-US"/>
          </a:p>
        </p:txBody>
      </p:sp>
      <p:sp>
        <p:nvSpPr>
          <p:cNvPr id="5" name="바닥글 개체 틀 4">
            <a:extLst>
              <a:ext uri="{FF2B5EF4-FFF2-40B4-BE49-F238E27FC236}">
                <a16:creationId xmlns:a16="http://schemas.microsoft.com/office/drawing/2014/main" id="{0B9ADA4B-3E0F-3F45-BC82-2BFBA7DDB9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슬라이드 번호 개체 틀 5">
            <a:extLst>
              <a:ext uri="{FF2B5EF4-FFF2-40B4-BE49-F238E27FC236}">
                <a16:creationId xmlns:a16="http://schemas.microsoft.com/office/drawing/2014/main" id="{3DEA5FB3-5225-19B7-4BA0-703FB9FD04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E9ED23-5746-6647-A559-B199C50CCD87}" type="slidenum">
              <a:rPr lang="en-US" smtClean="0"/>
              <a:t>‹#›</a:t>
            </a:fld>
            <a:endParaRPr lang="en-US"/>
          </a:p>
        </p:txBody>
      </p:sp>
    </p:spTree>
    <p:extLst>
      <p:ext uri="{BB962C8B-B14F-4D97-AF65-F5344CB8AC3E}">
        <p14:creationId xmlns:p14="http://schemas.microsoft.com/office/powerpoint/2010/main" val="4202991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107BB597-4954-5C2E-BA70-EA6E1F37247D}"/>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직사각형 6">
            <a:extLst>
              <a:ext uri="{FF2B5EF4-FFF2-40B4-BE49-F238E27FC236}">
                <a16:creationId xmlns:a16="http://schemas.microsoft.com/office/drawing/2014/main" id="{358243F1-72DA-D900-E980-79930AD9F935}"/>
              </a:ext>
            </a:extLst>
          </p:cNvPr>
          <p:cNvSpPr/>
          <p:nvPr/>
        </p:nvSpPr>
        <p:spPr>
          <a:xfrm flipV="1">
            <a:off x="167900" y="0"/>
            <a:ext cx="2156846" cy="17978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175DC49-0131-D9D5-1CBF-3067CE103345}"/>
              </a:ext>
            </a:extLst>
          </p:cNvPr>
          <p:cNvSpPr txBox="1"/>
          <p:nvPr/>
        </p:nvSpPr>
        <p:spPr>
          <a:xfrm>
            <a:off x="495946" y="697488"/>
            <a:ext cx="1741182"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Background</a:t>
            </a:r>
          </a:p>
        </p:txBody>
      </p:sp>
      <p:sp>
        <p:nvSpPr>
          <p:cNvPr id="9" name="직사각형 8">
            <a:extLst>
              <a:ext uri="{FF2B5EF4-FFF2-40B4-BE49-F238E27FC236}">
                <a16:creationId xmlns:a16="http://schemas.microsoft.com/office/drawing/2014/main" id="{191DC49B-1E7F-84BE-22FC-A93304919440}"/>
              </a:ext>
            </a:extLst>
          </p:cNvPr>
          <p:cNvSpPr/>
          <p:nvPr/>
        </p:nvSpPr>
        <p:spPr>
          <a:xfrm flipV="1">
            <a:off x="5402138" y="2826587"/>
            <a:ext cx="2361636" cy="20703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직사각형 11">
            <a:extLst>
              <a:ext uri="{FF2B5EF4-FFF2-40B4-BE49-F238E27FC236}">
                <a16:creationId xmlns:a16="http://schemas.microsoft.com/office/drawing/2014/main" id="{45CD5B2C-9BF9-90A3-CC87-89EAFF1F9142}"/>
              </a:ext>
            </a:extLst>
          </p:cNvPr>
          <p:cNvSpPr/>
          <p:nvPr/>
        </p:nvSpPr>
        <p:spPr>
          <a:xfrm flipV="1">
            <a:off x="6582956" y="4382218"/>
            <a:ext cx="2361636" cy="5147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D5A77688-0F0D-D2AF-98E4-2E0470D638D5}"/>
              </a:ext>
            </a:extLst>
          </p:cNvPr>
          <p:cNvSpPr txBox="1"/>
          <p:nvPr/>
        </p:nvSpPr>
        <p:spPr>
          <a:xfrm>
            <a:off x="5419391" y="2609398"/>
            <a:ext cx="1175322" cy="473206"/>
          </a:xfrm>
          <a:prstGeom prst="rect">
            <a:avLst/>
          </a:prstGeom>
          <a:noFill/>
        </p:spPr>
        <p:txBody>
          <a:bodyPr wrap="none" rtlCol="0">
            <a:spAutoFit/>
          </a:bodyPr>
          <a:lstStyle/>
          <a:p>
            <a:pPr algn="ctr">
              <a:lnSpc>
                <a:spcPct val="150000"/>
              </a:lnSpc>
            </a:pPr>
            <a:r>
              <a:rPr lang="en-US" dirty="0">
                <a:latin typeface="Gmarket Sans TTF Medium" panose="02000000000000000000" pitchFamily="2" charset="-128"/>
                <a:ea typeface="Gmarket Sans TTF Medium" panose="02000000000000000000" pitchFamily="2" charset="-128"/>
                <a:cs typeface="Futura Medium" panose="020B0602020204020303" pitchFamily="34" charset="-79"/>
              </a:rPr>
              <a:t>Various</a:t>
            </a:r>
          </a:p>
        </p:txBody>
      </p:sp>
      <p:sp>
        <p:nvSpPr>
          <p:cNvPr id="13" name="TextBox 12">
            <a:extLst>
              <a:ext uri="{FF2B5EF4-FFF2-40B4-BE49-F238E27FC236}">
                <a16:creationId xmlns:a16="http://schemas.microsoft.com/office/drawing/2014/main" id="{0EB927CC-9462-056A-7AF4-729536B41A37}"/>
              </a:ext>
            </a:extLst>
          </p:cNvPr>
          <p:cNvSpPr txBox="1"/>
          <p:nvPr/>
        </p:nvSpPr>
        <p:spPr>
          <a:xfrm>
            <a:off x="5419391" y="2919641"/>
            <a:ext cx="3118161" cy="1812035"/>
          </a:xfrm>
          <a:prstGeom prst="rect">
            <a:avLst/>
          </a:prstGeom>
          <a:noFill/>
        </p:spPr>
        <p:txBody>
          <a:bodyPr wrap="square" rtlCol="0">
            <a:spAutoFit/>
          </a:bodyPr>
          <a:lstStyle/>
          <a:p>
            <a:pPr>
              <a:lnSpc>
                <a:spcPct val="150000"/>
              </a:lnSpc>
            </a:pPr>
            <a:r>
              <a:rPr lang="en-US" sz="2000" b="1" dirty="0">
                <a:latin typeface="Gmarket Sans TTF Bold" panose="02000000000000000000" pitchFamily="2" charset="-128"/>
                <a:ea typeface="Gmarket Sans TTF Bold" panose="02000000000000000000" pitchFamily="2" charset="-128"/>
                <a:cs typeface="Futura Medium" panose="020B0602020204020303" pitchFamily="34" charset="-79"/>
              </a:rPr>
              <a:t>Design Tools</a:t>
            </a:r>
          </a:p>
          <a:p>
            <a:pPr>
              <a:lnSpc>
                <a:spcPct val="150000"/>
              </a:lnSpc>
            </a:pPr>
            <a:r>
              <a:rPr lang="en-US" sz="2000" b="1" dirty="0">
                <a:latin typeface="Gmarket Sans TTF Bold" panose="02000000000000000000" pitchFamily="2" charset="-128"/>
                <a:ea typeface="Gmarket Sans TTF Bold" panose="02000000000000000000" pitchFamily="2" charset="-128"/>
                <a:cs typeface="Futura Medium" panose="020B0602020204020303" pitchFamily="34" charset="-79"/>
              </a:rPr>
              <a:t>Design Purposes</a:t>
            </a:r>
          </a:p>
          <a:p>
            <a:pPr>
              <a:lnSpc>
                <a:spcPct val="150000"/>
              </a:lnSpc>
            </a:pPr>
            <a:r>
              <a:rPr lang="en-US" b="1" dirty="0">
                <a:latin typeface="Gmarket Sans TTF Medium" panose="02000000000000000000" pitchFamily="2" charset="-128"/>
                <a:ea typeface="Gmarket Sans TTF Medium" panose="02000000000000000000" pitchFamily="2" charset="-128"/>
                <a:cs typeface="Futura Medium" panose="020B0602020204020303" pitchFamily="34" charset="-79"/>
              </a:rPr>
              <a:t>Different</a:t>
            </a:r>
            <a:r>
              <a:rPr lang="en-US" dirty="0">
                <a:latin typeface="Gmarket Sans TTF Medium" panose="02000000000000000000" pitchFamily="2" charset="-128"/>
                <a:ea typeface="Gmarket Sans TTF Medium" panose="02000000000000000000" pitchFamily="2" charset="-128"/>
                <a:cs typeface="Futura Medium" panose="020B0602020204020303" pitchFamily="34" charset="-79"/>
              </a:rPr>
              <a:t> Interfaces</a:t>
            </a:r>
          </a:p>
          <a:p>
            <a:pPr algn="ctr">
              <a:lnSpc>
                <a:spcPct val="150000"/>
              </a:lnSpc>
            </a:pPr>
            <a:r>
              <a:rPr lang="en-US" dirty="0">
                <a:latin typeface="Gmarket Sans TTF Medium" panose="02000000000000000000" pitchFamily="2" charset="-128"/>
                <a:ea typeface="Gmarket Sans TTF Medium" panose="02000000000000000000" pitchFamily="2" charset="-128"/>
                <a:cs typeface="Futura Medium" panose="020B0602020204020303" pitchFamily="34" charset="-79"/>
              </a:rPr>
              <a:t>for Different Needs</a:t>
            </a:r>
          </a:p>
        </p:txBody>
      </p:sp>
      <p:sp>
        <p:nvSpPr>
          <p:cNvPr id="14" name="TextBox 13">
            <a:extLst>
              <a:ext uri="{FF2B5EF4-FFF2-40B4-BE49-F238E27FC236}">
                <a16:creationId xmlns:a16="http://schemas.microsoft.com/office/drawing/2014/main" id="{912D547B-E41B-86B7-3E6E-A530AC020304}"/>
              </a:ext>
            </a:extLst>
          </p:cNvPr>
          <p:cNvSpPr txBox="1"/>
          <p:nvPr/>
        </p:nvSpPr>
        <p:spPr>
          <a:xfrm>
            <a:off x="11497579" y="6476142"/>
            <a:ext cx="522900" cy="246221"/>
          </a:xfrm>
          <a:prstGeom prst="rect">
            <a:avLst/>
          </a:prstGeom>
          <a:noFill/>
        </p:spPr>
        <p:txBody>
          <a:bodyPr wrap="none" rtlCol="0">
            <a:spAutoFit/>
          </a:bodyPr>
          <a:lstStyle/>
          <a:p>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1 / 19</a:t>
            </a:r>
          </a:p>
        </p:txBody>
      </p:sp>
    </p:spTree>
    <p:extLst>
      <p:ext uri="{BB962C8B-B14F-4D97-AF65-F5344CB8AC3E}">
        <p14:creationId xmlns:p14="http://schemas.microsoft.com/office/powerpoint/2010/main" val="3740258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049C267-1844-F7E6-7D13-A647D859386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2889445-C6E2-F34D-2254-0BE7344C9719}"/>
              </a:ext>
            </a:extLst>
          </p:cNvPr>
          <p:cNvSpPr/>
          <p:nvPr/>
        </p:nvSpPr>
        <p:spPr>
          <a:xfrm>
            <a:off x="0" y="0"/>
            <a:ext cx="12478043"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E604043-8192-571C-7050-971582E1AB7D}"/>
              </a:ext>
            </a:extLst>
          </p:cNvPr>
          <p:cNvSpPr txBox="1"/>
          <p:nvPr/>
        </p:nvSpPr>
        <p:spPr>
          <a:xfrm>
            <a:off x="703052" y="1364198"/>
            <a:ext cx="6236898" cy="400110"/>
          </a:xfrm>
          <a:prstGeom prst="rect">
            <a:avLst/>
          </a:prstGeom>
          <a:solidFill>
            <a:schemeClr val="bg1"/>
          </a:solidFill>
        </p:spPr>
        <p:txBody>
          <a:bodyPr wrap="square">
            <a:spAutoFit/>
          </a:bodyPr>
          <a:lstStyle/>
          <a:p>
            <a:r>
              <a:rPr lang="en-US" altLang="ko-KR" sz="2000" b="1" dirty="0">
                <a:solidFill>
                  <a:srgbClr val="002060"/>
                </a:solidFill>
                <a:latin typeface="Gmarket Sans TTF Bold" panose="02000000000000000000" pitchFamily="2" charset="-128"/>
                <a:ea typeface="Gmarket Sans TTF Bold" panose="02000000000000000000" pitchFamily="2" charset="-128"/>
              </a:rPr>
              <a:t>? </a:t>
            </a:r>
            <a:r>
              <a:rPr lang="ko-KR" altLang="ko-KR" sz="2000" b="1" dirty="0" err="1">
                <a:solidFill>
                  <a:srgbClr val="002060"/>
                </a:solidFill>
                <a:latin typeface="Gmarket Sans TTF Bold" panose="02000000000000000000" pitchFamily="2" charset="-128"/>
                <a:ea typeface="Gmarket Sans TTF Bold" panose="02000000000000000000" pitchFamily="2" charset="-128"/>
              </a:rPr>
              <a:t>Are</a:t>
            </a:r>
            <a:r>
              <a:rPr lang="ko-KR" altLang="ko-KR" sz="2000" b="1" dirty="0">
                <a:solidFill>
                  <a:srgbClr val="002060"/>
                </a:solidFill>
                <a:latin typeface="Gmarket Sans TTF Bold" panose="02000000000000000000" pitchFamily="2" charset="-128"/>
                <a:ea typeface="Gmarket Sans TTF Bold" panose="02000000000000000000" pitchFamily="2" charset="-128"/>
              </a:rPr>
              <a:t> </a:t>
            </a:r>
            <a:r>
              <a:rPr lang="ko-KR" altLang="ko-KR" sz="2000" b="1" dirty="0" err="1">
                <a:solidFill>
                  <a:srgbClr val="002060"/>
                </a:solidFill>
                <a:latin typeface="Gmarket Sans TTF Bold" panose="02000000000000000000" pitchFamily="2" charset="-128"/>
                <a:ea typeface="Gmarket Sans TTF Bold" panose="02000000000000000000" pitchFamily="2" charset="-128"/>
              </a:rPr>
              <a:t>Designers</a:t>
            </a:r>
            <a:r>
              <a:rPr lang="ko-KR" altLang="ko-KR" sz="2000" b="1" dirty="0">
                <a:solidFill>
                  <a:srgbClr val="002060"/>
                </a:solidFill>
                <a:latin typeface="Gmarket Sans TTF Bold" panose="02000000000000000000" pitchFamily="2" charset="-128"/>
                <a:ea typeface="Gmarket Sans TTF Bold" panose="02000000000000000000" pitchFamily="2" charset="-128"/>
              </a:rPr>
              <a:t> </a:t>
            </a:r>
            <a:r>
              <a:rPr lang="ko-KR" altLang="ko-KR" sz="2000" b="1" dirty="0" err="1">
                <a:solidFill>
                  <a:srgbClr val="002060"/>
                </a:solidFill>
                <a:latin typeface="Gmarket Sans TTF Bold" panose="02000000000000000000" pitchFamily="2" charset="-128"/>
                <a:ea typeface="Gmarket Sans TTF Bold" panose="02000000000000000000" pitchFamily="2" charset="-128"/>
              </a:rPr>
              <a:t>a</a:t>
            </a:r>
            <a:r>
              <a:rPr lang="ko-KR" altLang="ko-KR" sz="2000" b="1" dirty="0">
                <a:solidFill>
                  <a:srgbClr val="002060"/>
                </a:solidFill>
                <a:latin typeface="Gmarket Sans TTF Bold" panose="02000000000000000000" pitchFamily="2" charset="-128"/>
                <a:ea typeface="Gmarket Sans TTF Bold" panose="02000000000000000000" pitchFamily="2" charset="-128"/>
              </a:rPr>
              <a:t> </a:t>
            </a:r>
            <a:r>
              <a:rPr lang="ko-KR" altLang="ko-KR" sz="2000" b="1" dirty="0" err="1">
                <a:solidFill>
                  <a:srgbClr val="002060"/>
                </a:solidFill>
                <a:latin typeface="Gmarket Sans TTF Bold" panose="02000000000000000000" pitchFamily="2" charset="-128"/>
                <a:ea typeface="Gmarket Sans TTF Bold" panose="02000000000000000000" pitchFamily="2" charset="-128"/>
              </a:rPr>
              <a:t>Specialized</a:t>
            </a:r>
            <a:r>
              <a:rPr lang="ko-KR" altLang="ko-KR" sz="2000" b="1" dirty="0">
                <a:solidFill>
                  <a:srgbClr val="002060"/>
                </a:solidFill>
                <a:latin typeface="Gmarket Sans TTF Bold" panose="02000000000000000000" pitchFamily="2" charset="-128"/>
                <a:ea typeface="Gmarket Sans TTF Bold" panose="02000000000000000000" pitchFamily="2" charset="-128"/>
              </a:rPr>
              <a:t> Group</a:t>
            </a:r>
            <a:endParaRPr lang="en-US" sz="2000" b="1" dirty="0">
              <a:solidFill>
                <a:srgbClr val="002060"/>
              </a:solidFill>
              <a:latin typeface="Gmarket Sans TTF Bold" panose="02000000000000000000" pitchFamily="2" charset="-128"/>
              <a:ea typeface="Gmarket Sans TTF Bold" panose="02000000000000000000" pitchFamily="2" charset="-128"/>
            </a:endParaRPr>
          </a:p>
        </p:txBody>
      </p:sp>
      <p:sp>
        <p:nvSpPr>
          <p:cNvPr id="5" name="TextBox 4">
            <a:extLst>
              <a:ext uri="{FF2B5EF4-FFF2-40B4-BE49-F238E27FC236}">
                <a16:creationId xmlns:a16="http://schemas.microsoft.com/office/drawing/2014/main" id="{DD5C831E-3025-0017-4B02-703296882FBE}"/>
              </a:ext>
            </a:extLst>
          </p:cNvPr>
          <p:cNvSpPr txBox="1"/>
          <p:nvPr/>
        </p:nvSpPr>
        <p:spPr>
          <a:xfrm>
            <a:off x="703052" y="1876955"/>
            <a:ext cx="10821839" cy="1938992"/>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After directly participating in design communities, interacting with users, and observing how they communicate, I came to realize that designers may not necessarily constitute a specialized user group. Middle and high school students creating PowerPoint presentations, as well as university students preparing presentations for group projects, may all use design communities. Even if design is not their profession, they can temporarily take on the role of a designer and encounter many of the same concerns and experiences as professional designers.</a:t>
            </a:r>
          </a:p>
          <a:p>
            <a:endParaRPr lang="en" sz="1200" dirty="0">
              <a:solidFill>
                <a:srgbClr val="002060"/>
              </a:solidFill>
              <a:latin typeface="Gmarket Sans TTF Medium" panose="02000000000000000000" pitchFamily="2" charset="-128"/>
              <a:ea typeface="Gmarket Sans TTF Medium" panose="02000000000000000000" pitchFamily="2" charset="-128"/>
            </a:endParaRPr>
          </a:p>
          <a:p>
            <a:r>
              <a:rPr lang="en-US" sz="1200" dirty="0">
                <a:solidFill>
                  <a:srgbClr val="002060"/>
                </a:solidFill>
                <a:latin typeface="Gmarket Sans TTF Medium" panose="02000000000000000000" pitchFamily="2" charset="-128"/>
                <a:ea typeface="Gmarket Sans TTF Medium" panose="02000000000000000000" pitchFamily="2" charset="-128"/>
              </a:rPr>
              <a:t>Users engaging in the experience of a “</a:t>
            </a:r>
            <a:r>
              <a:rPr lang="en-US" sz="1200" b="1" dirty="0">
                <a:solidFill>
                  <a:srgbClr val="002060"/>
                </a:solidFill>
                <a:latin typeface="Gmarket Sans TTF Medium" panose="02000000000000000000" pitchFamily="2" charset="-128"/>
                <a:ea typeface="Gmarket Sans TTF Medium" panose="02000000000000000000" pitchFamily="2" charset="-128"/>
              </a:rPr>
              <a:t>designer using design software</a:t>
            </a:r>
            <a:r>
              <a:rPr lang="en-US" sz="1200" dirty="0">
                <a:solidFill>
                  <a:srgbClr val="002060"/>
                </a:solidFill>
                <a:latin typeface="Gmarket Sans TTF Medium" panose="02000000000000000000" pitchFamily="2" charset="-128"/>
                <a:ea typeface="Gmarket Sans TTF Medium" panose="02000000000000000000" pitchFamily="2" charset="-128"/>
              </a:rPr>
              <a:t>” often need to determine which tools within a particular design program will help them achieve their design goals effectively.</a:t>
            </a:r>
          </a:p>
          <a:p>
            <a:r>
              <a:rPr lang="en-US" sz="1200" dirty="0">
                <a:solidFill>
                  <a:srgbClr val="002060"/>
                </a:solidFill>
                <a:latin typeface="Gmarket Sans TTF Medium" panose="02000000000000000000" pitchFamily="2" charset="-128"/>
                <a:ea typeface="Gmarket Sans TTF Medium" panose="02000000000000000000" pitchFamily="2" charset="-128"/>
              </a:rPr>
              <a:t>In open chat rooms, users typically ask immediate questions to a broad and unspecified audience. In online communities, they tend to post more detailed questions that include specific requirements and context.</a:t>
            </a:r>
          </a:p>
        </p:txBody>
      </p:sp>
      <p:sp>
        <p:nvSpPr>
          <p:cNvPr id="6" name="TextBox 5">
            <a:extLst>
              <a:ext uri="{FF2B5EF4-FFF2-40B4-BE49-F238E27FC236}">
                <a16:creationId xmlns:a16="http://schemas.microsoft.com/office/drawing/2014/main" id="{DE83F082-1DA7-7F1E-69B9-761F242A2490}"/>
              </a:ext>
            </a:extLst>
          </p:cNvPr>
          <p:cNvSpPr txBox="1"/>
          <p:nvPr/>
        </p:nvSpPr>
        <p:spPr>
          <a:xfrm>
            <a:off x="655606" y="3952122"/>
            <a:ext cx="7888857" cy="400110"/>
          </a:xfrm>
          <a:prstGeom prst="rect">
            <a:avLst/>
          </a:prstGeom>
          <a:solidFill>
            <a:schemeClr val="bg1"/>
          </a:solidFill>
        </p:spPr>
        <p:txBody>
          <a:bodyPr wrap="square">
            <a:spAutoFit/>
          </a:bodyPr>
          <a:lstStyle/>
          <a:p>
            <a:r>
              <a:rPr lang="en" altLang="ko-KR" sz="2000" b="1" dirty="0">
                <a:solidFill>
                  <a:srgbClr val="002060"/>
                </a:solidFill>
                <a:latin typeface="Gmarket Sans TTF Bold" panose="02000000000000000000" pitchFamily="2" charset="-128"/>
                <a:ea typeface="Gmarket Sans TTF Bold" panose="02000000000000000000" pitchFamily="2" charset="-128"/>
              </a:rPr>
              <a:t>! Key Characteristics of Community Conversations</a:t>
            </a:r>
            <a:endParaRPr lang="en-US" sz="2000" b="1" dirty="0">
              <a:solidFill>
                <a:srgbClr val="002060"/>
              </a:solidFill>
              <a:latin typeface="Gmarket Sans TTF Bold" panose="02000000000000000000" pitchFamily="2" charset="-128"/>
              <a:ea typeface="Gmarket Sans TTF Bold" panose="02000000000000000000" pitchFamily="2" charset="-128"/>
            </a:endParaRPr>
          </a:p>
        </p:txBody>
      </p:sp>
      <p:sp>
        <p:nvSpPr>
          <p:cNvPr id="8" name="직사각형 7">
            <a:extLst>
              <a:ext uri="{FF2B5EF4-FFF2-40B4-BE49-F238E27FC236}">
                <a16:creationId xmlns:a16="http://schemas.microsoft.com/office/drawing/2014/main" id="{8242A20A-458D-AA3F-3A13-52E6BBA75E99}"/>
              </a:ext>
            </a:extLst>
          </p:cNvPr>
          <p:cNvSpPr/>
          <p:nvPr/>
        </p:nvSpPr>
        <p:spPr>
          <a:xfrm>
            <a:off x="-143022" y="4758053"/>
            <a:ext cx="12478043" cy="19389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EC9E8D4-D1B4-182D-CDC7-29F8FC9336F7}"/>
              </a:ext>
            </a:extLst>
          </p:cNvPr>
          <p:cNvSpPr txBox="1"/>
          <p:nvPr/>
        </p:nvSpPr>
        <p:spPr>
          <a:xfrm>
            <a:off x="655607" y="4508443"/>
            <a:ext cx="10821839" cy="276999"/>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A key characteristic of conversations within these communities is that </a:t>
            </a:r>
            <a:r>
              <a:rPr lang="en" altLang="ko-KR" sz="1200" b="1" dirty="0">
                <a:solidFill>
                  <a:srgbClr val="C00000"/>
                </a:solidFill>
                <a:latin typeface="Gmarket Sans TTF Bold" panose="02000000000000000000" pitchFamily="2" charset="-128"/>
                <a:ea typeface="Gmarket Sans TTF Bold" panose="02000000000000000000" pitchFamily="2" charset="-128"/>
              </a:rPr>
              <a:t>their characteristics are difficult to define consistently</a:t>
            </a:r>
            <a:r>
              <a:rPr lang="en" altLang="ko-KR" sz="1200" dirty="0">
                <a:solidFill>
                  <a:srgbClr val="002060"/>
                </a:solidFill>
                <a:latin typeface="Gmarket Sans TTF Medium" panose="02000000000000000000" pitchFamily="2" charset="-128"/>
                <a:ea typeface="Gmarket Sans TTF Medium" panose="02000000000000000000" pitchFamily="2" charset="-128"/>
              </a:rPr>
              <a:t>.</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0" name="TextBox 9">
            <a:extLst>
              <a:ext uri="{FF2B5EF4-FFF2-40B4-BE49-F238E27FC236}">
                <a16:creationId xmlns:a16="http://schemas.microsoft.com/office/drawing/2014/main" id="{825F0F3A-5C6C-7970-4F41-7B369DCFE52C}"/>
              </a:ext>
            </a:extLst>
          </p:cNvPr>
          <p:cNvSpPr txBox="1"/>
          <p:nvPr/>
        </p:nvSpPr>
        <p:spPr>
          <a:xfrm>
            <a:off x="914366" y="4845133"/>
            <a:ext cx="10821839" cy="646331"/>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“Is </a:t>
            </a:r>
            <a:r>
              <a:rPr lang="en" altLang="ko-KR" sz="1200" i="1" dirty="0" err="1">
                <a:solidFill>
                  <a:srgbClr val="002060"/>
                </a:solidFill>
                <a:latin typeface="Gmarket Sans TTF Medium" panose="02000000000000000000" pitchFamily="2" charset="-128"/>
                <a:ea typeface="Gmarket Sans TTF Medium" panose="02000000000000000000" pitchFamily="2" charset="-128"/>
              </a:rPr>
              <a:t>Filmora</a:t>
            </a:r>
            <a:r>
              <a:rPr lang="en" altLang="ko-KR" sz="1200" dirty="0">
                <a:solidFill>
                  <a:srgbClr val="002060"/>
                </a:solidFill>
                <a:latin typeface="Gmarket Sans TTF Medium" panose="02000000000000000000" pitchFamily="2" charset="-128"/>
                <a:ea typeface="Gmarket Sans TTF Medium" panose="02000000000000000000" pitchFamily="2" charset="-128"/>
              </a:rPr>
              <a:t> a good video editing program?”</a:t>
            </a:r>
          </a:p>
          <a:p>
            <a:r>
              <a:rPr lang="en" altLang="ko-KR" sz="1200" dirty="0">
                <a:solidFill>
                  <a:srgbClr val="002060"/>
                </a:solidFill>
                <a:latin typeface="Gmarket Sans TTF Medium" panose="02000000000000000000" pitchFamily="2" charset="-128"/>
                <a:ea typeface="Gmarket Sans TTF Medium" panose="02000000000000000000" pitchFamily="2" charset="-128"/>
              </a:rPr>
              <a:t>"I want to convert something rendered in Blender Cycles into an actual mesh,</a:t>
            </a:r>
          </a:p>
          <a:p>
            <a:r>
              <a:rPr lang="en" altLang="ko-KR" sz="1200" dirty="0">
                <a:solidFill>
                  <a:srgbClr val="002060"/>
                </a:solidFill>
                <a:latin typeface="Gmarket Sans TTF Medium" panose="02000000000000000000" pitchFamily="2" charset="-128"/>
                <a:ea typeface="Gmarket Sans TTF Medium" panose="02000000000000000000" pitchFamily="2" charset="-128"/>
              </a:rPr>
              <a:t>  but using a displacement map creates too many triangles. Is there an add-on that can automatically handle retopology?”</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1" name="TextBox 10">
            <a:extLst>
              <a:ext uri="{FF2B5EF4-FFF2-40B4-BE49-F238E27FC236}">
                <a16:creationId xmlns:a16="http://schemas.microsoft.com/office/drawing/2014/main" id="{99313847-7A94-BD23-2F34-29513CA50CBF}"/>
              </a:ext>
            </a:extLst>
          </p:cNvPr>
          <p:cNvSpPr txBox="1"/>
          <p:nvPr/>
        </p:nvSpPr>
        <p:spPr>
          <a:xfrm>
            <a:off x="655606" y="5538666"/>
            <a:ext cx="10821839" cy="1015663"/>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The topics and content of these conversations vary greatly depending on each user’s interests and the software they use. Questions such as those above frequently appear in these communities.</a:t>
            </a:r>
          </a:p>
          <a:p>
            <a:r>
              <a:rPr lang="en" altLang="ko-KR" sz="1200" dirty="0">
                <a:solidFill>
                  <a:srgbClr val="002060"/>
                </a:solidFill>
                <a:latin typeface="Gmarket Sans TTF Medium" panose="02000000000000000000" pitchFamily="2" charset="-128"/>
                <a:ea typeface="Gmarket Sans TTF Medium" panose="02000000000000000000" pitchFamily="2" charset="-128"/>
              </a:rPr>
              <a:t>As a result, open chat rooms or online communities built around the broad keyword “designer” often bring together people who do not necessarily share the same expertise or interests.</a:t>
            </a:r>
          </a:p>
          <a:p>
            <a:r>
              <a:rPr lang="en" altLang="ko-KR" sz="1200" dirty="0">
                <a:solidFill>
                  <a:srgbClr val="002060"/>
                </a:solidFill>
                <a:latin typeface="Gmarket Sans TTF Medium" panose="02000000000000000000" pitchFamily="2" charset="-128"/>
                <a:ea typeface="Gmarket Sans TTF Medium" panose="02000000000000000000" pitchFamily="2" charset="-128"/>
              </a:rPr>
              <a:t>In other words, </a:t>
            </a:r>
            <a:r>
              <a:rPr lang="en" altLang="ko-KR" sz="1200" b="1" dirty="0">
                <a:solidFill>
                  <a:srgbClr val="C00000"/>
                </a:solidFill>
                <a:latin typeface="Gmarket Sans TTF Bold" panose="02000000000000000000" pitchFamily="2" charset="-128"/>
                <a:ea typeface="Gmarket Sans TTF Bold" panose="02000000000000000000" pitchFamily="2" charset="-128"/>
              </a:rPr>
              <a:t>it is difficult for users to get the answers they need immediately</a:t>
            </a:r>
            <a:r>
              <a:rPr lang="en" altLang="ko-KR" sz="1200" dirty="0">
                <a:solidFill>
                  <a:srgbClr val="002060"/>
                </a:solidFill>
                <a:latin typeface="Gmarket Sans TTF Medium" panose="02000000000000000000" pitchFamily="2" charset="-128"/>
                <a:ea typeface="Gmarket Sans TTF Medium" panose="02000000000000000000" pitchFamily="2" charset="-128"/>
              </a:rPr>
              <a:t>.</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2" name="TextBox 11">
            <a:extLst>
              <a:ext uri="{FF2B5EF4-FFF2-40B4-BE49-F238E27FC236}">
                <a16:creationId xmlns:a16="http://schemas.microsoft.com/office/drawing/2014/main" id="{0F4A47F7-A8DB-E52F-B433-8F3DDFED6468}"/>
              </a:ext>
            </a:extLst>
          </p:cNvPr>
          <p:cNvSpPr txBox="1"/>
          <p:nvPr/>
        </p:nvSpPr>
        <p:spPr>
          <a:xfrm>
            <a:off x="495946" y="697488"/>
            <a:ext cx="1741182"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Background</a:t>
            </a:r>
          </a:p>
        </p:txBody>
      </p:sp>
      <p:sp>
        <p:nvSpPr>
          <p:cNvPr id="13" name="TextBox 12">
            <a:extLst>
              <a:ext uri="{FF2B5EF4-FFF2-40B4-BE49-F238E27FC236}">
                <a16:creationId xmlns:a16="http://schemas.microsoft.com/office/drawing/2014/main" id="{73D8DB44-E8EF-E12D-0ACA-48F07903BFA0}"/>
              </a:ext>
            </a:extLst>
          </p:cNvPr>
          <p:cNvSpPr txBox="1"/>
          <p:nvPr/>
        </p:nvSpPr>
        <p:spPr>
          <a:xfrm>
            <a:off x="11497579" y="6476142"/>
            <a:ext cx="548548" cy="246221"/>
          </a:xfrm>
          <a:prstGeom prst="rect">
            <a:avLst/>
          </a:prstGeom>
          <a:noFill/>
        </p:spPr>
        <p:txBody>
          <a:bodyPr wrap="none" rtlCol="0">
            <a:spAutoFit/>
          </a:bodyPr>
          <a:lstStyle/>
          <a:p>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2 / 19</a:t>
            </a:r>
          </a:p>
        </p:txBody>
      </p:sp>
    </p:spTree>
    <p:extLst>
      <p:ext uri="{BB962C8B-B14F-4D97-AF65-F5344CB8AC3E}">
        <p14:creationId xmlns:p14="http://schemas.microsoft.com/office/powerpoint/2010/main" val="2882962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B11819C-C830-2720-672A-2DA7DC2032F0}"/>
            </a:ext>
          </a:extLst>
        </p:cNvPr>
        <p:cNvGrpSpPr/>
        <p:nvPr/>
      </p:nvGrpSpPr>
      <p:grpSpPr>
        <a:xfrm>
          <a:off x="0" y="0"/>
          <a:ext cx="0" cy="0"/>
          <a:chOff x="0" y="0"/>
          <a:chExt cx="0" cy="0"/>
        </a:xfrm>
      </p:grpSpPr>
      <p:sp>
        <p:nvSpPr>
          <p:cNvPr id="8" name="직사각형 7">
            <a:extLst>
              <a:ext uri="{FF2B5EF4-FFF2-40B4-BE49-F238E27FC236}">
                <a16:creationId xmlns:a16="http://schemas.microsoft.com/office/drawing/2014/main" id="{82A4F526-80A9-E2E5-C822-93830E8E19BD}"/>
              </a:ext>
            </a:extLst>
          </p:cNvPr>
          <p:cNvSpPr/>
          <p:nvPr/>
        </p:nvSpPr>
        <p:spPr>
          <a:xfrm>
            <a:off x="-2608052" y="2138513"/>
            <a:ext cx="6553134" cy="4859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직사각형 6">
            <a:extLst>
              <a:ext uri="{FF2B5EF4-FFF2-40B4-BE49-F238E27FC236}">
                <a16:creationId xmlns:a16="http://schemas.microsoft.com/office/drawing/2014/main" id="{63706C72-B5CB-B13D-386D-4D9FBAFBC48E}"/>
              </a:ext>
            </a:extLst>
          </p:cNvPr>
          <p:cNvSpPr/>
          <p:nvPr/>
        </p:nvSpPr>
        <p:spPr>
          <a:xfrm>
            <a:off x="1325592" y="660127"/>
            <a:ext cx="12478043" cy="16862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직사각형 1">
            <a:extLst>
              <a:ext uri="{FF2B5EF4-FFF2-40B4-BE49-F238E27FC236}">
                <a16:creationId xmlns:a16="http://schemas.microsoft.com/office/drawing/2014/main" id="{9FC58C5C-C302-7FAF-40FB-B9585DBC2FB8}"/>
              </a:ext>
            </a:extLst>
          </p:cNvPr>
          <p:cNvSpPr/>
          <p:nvPr/>
        </p:nvSpPr>
        <p:spPr>
          <a:xfrm>
            <a:off x="0" y="0"/>
            <a:ext cx="12478043" cy="13974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726BD18-F49B-747B-1FC9-588CAC933C53}"/>
              </a:ext>
            </a:extLst>
          </p:cNvPr>
          <p:cNvSpPr txBox="1"/>
          <p:nvPr/>
        </p:nvSpPr>
        <p:spPr>
          <a:xfrm>
            <a:off x="495946" y="697488"/>
            <a:ext cx="4857420"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Text Analysis of Online Communities</a:t>
            </a:r>
          </a:p>
        </p:txBody>
      </p:sp>
      <p:sp>
        <p:nvSpPr>
          <p:cNvPr id="5" name="TextBox 4">
            <a:extLst>
              <a:ext uri="{FF2B5EF4-FFF2-40B4-BE49-F238E27FC236}">
                <a16:creationId xmlns:a16="http://schemas.microsoft.com/office/drawing/2014/main" id="{8B20FCD4-184E-13C7-7E1E-346AE087C76D}"/>
              </a:ext>
            </a:extLst>
          </p:cNvPr>
          <p:cNvSpPr txBox="1"/>
          <p:nvPr/>
        </p:nvSpPr>
        <p:spPr>
          <a:xfrm>
            <a:off x="1013603" y="1564253"/>
            <a:ext cx="6236898" cy="400110"/>
          </a:xfrm>
          <a:prstGeom prst="rect">
            <a:avLst/>
          </a:prstGeom>
          <a:solidFill>
            <a:schemeClr val="bg1"/>
          </a:solidFill>
        </p:spPr>
        <p:txBody>
          <a:bodyPr wrap="square">
            <a:spAutoFit/>
          </a:bodyPr>
          <a:lstStyle/>
          <a:p>
            <a:r>
              <a:rPr lang="en-US" sz="2000" b="1" dirty="0">
                <a:solidFill>
                  <a:srgbClr val="002060"/>
                </a:solidFill>
                <a:latin typeface="Gmarket Sans TTF Bold" panose="02000000000000000000" pitchFamily="2" charset="-128"/>
                <a:ea typeface="Gmarket Sans TTF Bold" panose="02000000000000000000" pitchFamily="2" charset="-128"/>
              </a:rPr>
              <a:t>KakaoTalk open Chat Rooms</a:t>
            </a:r>
          </a:p>
        </p:txBody>
      </p:sp>
      <p:sp>
        <p:nvSpPr>
          <p:cNvPr id="9" name="TextBox 8">
            <a:extLst>
              <a:ext uri="{FF2B5EF4-FFF2-40B4-BE49-F238E27FC236}">
                <a16:creationId xmlns:a16="http://schemas.microsoft.com/office/drawing/2014/main" id="{DE2ACC05-B7E9-A924-C8C3-9A84E534D16D}"/>
              </a:ext>
            </a:extLst>
          </p:cNvPr>
          <p:cNvSpPr txBox="1"/>
          <p:nvPr/>
        </p:nvSpPr>
        <p:spPr>
          <a:xfrm>
            <a:off x="356493" y="2191107"/>
            <a:ext cx="2421213" cy="400110"/>
          </a:xfrm>
          <a:prstGeom prst="rect">
            <a:avLst/>
          </a:prstGeom>
          <a:solidFill>
            <a:schemeClr val="bg1"/>
          </a:solidFill>
        </p:spPr>
        <p:txBody>
          <a:bodyPr wrap="square">
            <a:spAutoFit/>
          </a:bodyPr>
          <a:lstStyle/>
          <a:p>
            <a:r>
              <a:rPr lang="en-US" sz="2000" b="1" dirty="0">
                <a:solidFill>
                  <a:srgbClr val="002060"/>
                </a:solidFill>
                <a:latin typeface="Gmarket Sans TTF Bold" panose="02000000000000000000" pitchFamily="2" charset="-128"/>
                <a:ea typeface="Gmarket Sans TTF Bold" panose="02000000000000000000" pitchFamily="2" charset="-128"/>
              </a:rPr>
              <a:t>- Open Coding</a:t>
            </a:r>
          </a:p>
        </p:txBody>
      </p:sp>
      <p:sp>
        <p:nvSpPr>
          <p:cNvPr id="11" name="TextBox 10">
            <a:extLst>
              <a:ext uri="{FF2B5EF4-FFF2-40B4-BE49-F238E27FC236}">
                <a16:creationId xmlns:a16="http://schemas.microsoft.com/office/drawing/2014/main" id="{96B514B4-1AD3-0B3E-B725-F585EDD8942A}"/>
              </a:ext>
            </a:extLst>
          </p:cNvPr>
          <p:cNvSpPr txBox="1"/>
          <p:nvPr/>
        </p:nvSpPr>
        <p:spPr>
          <a:xfrm>
            <a:off x="1514549" y="3190616"/>
            <a:ext cx="2377983" cy="261610"/>
          </a:xfrm>
          <a:prstGeom prst="rect">
            <a:avLst/>
          </a:prstGeom>
          <a:solidFill>
            <a:srgbClr val="1A1D22"/>
          </a:solidFill>
        </p:spPr>
        <p:txBody>
          <a:bodyPr wrap="square">
            <a:spAutoFit/>
          </a:bodyPr>
          <a:lstStyle/>
          <a:p>
            <a:r>
              <a:rPr lang="en-US" sz="1050" dirty="0">
                <a:solidFill>
                  <a:schemeClr val="bg1"/>
                </a:solidFill>
                <a:latin typeface="Helvetica" pitchFamily="2" charset="0"/>
                <a:ea typeface="Gmarket Sans TTF Bold" panose="02000000000000000000" pitchFamily="2" charset="-128"/>
              </a:rPr>
              <a:t>Design Experience Questions</a:t>
            </a:r>
          </a:p>
        </p:txBody>
      </p:sp>
      <p:sp>
        <p:nvSpPr>
          <p:cNvPr id="12" name="TextBox 11">
            <a:extLst>
              <a:ext uri="{FF2B5EF4-FFF2-40B4-BE49-F238E27FC236}">
                <a16:creationId xmlns:a16="http://schemas.microsoft.com/office/drawing/2014/main" id="{13BCEB05-E51B-D3E3-BF49-8174E861A945}"/>
              </a:ext>
            </a:extLst>
          </p:cNvPr>
          <p:cNvSpPr txBox="1"/>
          <p:nvPr/>
        </p:nvSpPr>
        <p:spPr>
          <a:xfrm>
            <a:off x="1514549" y="3600518"/>
            <a:ext cx="2430533" cy="253916"/>
          </a:xfrm>
          <a:prstGeom prst="rect">
            <a:avLst/>
          </a:prstGeom>
          <a:solidFill>
            <a:srgbClr val="1A1D22"/>
          </a:solidFill>
        </p:spPr>
        <p:txBody>
          <a:bodyPr wrap="square">
            <a:spAutoFit/>
          </a:bodyPr>
          <a:lstStyle/>
          <a:p>
            <a:r>
              <a:rPr lang="en-US" sz="1050" dirty="0">
                <a:solidFill>
                  <a:schemeClr val="bg1"/>
                </a:solidFill>
                <a:latin typeface="Helvetica" pitchFamily="2" charset="0"/>
                <a:ea typeface="Gmarket Sans TTF Bold" panose="02000000000000000000" pitchFamily="2" charset="-128"/>
              </a:rPr>
              <a:t>Design Software Recommendations</a:t>
            </a:r>
          </a:p>
        </p:txBody>
      </p:sp>
      <p:sp>
        <p:nvSpPr>
          <p:cNvPr id="13" name="TextBox 12">
            <a:extLst>
              <a:ext uri="{FF2B5EF4-FFF2-40B4-BE49-F238E27FC236}">
                <a16:creationId xmlns:a16="http://schemas.microsoft.com/office/drawing/2014/main" id="{3E0203BE-E6A0-9CEA-E263-D4230C5138D2}"/>
              </a:ext>
            </a:extLst>
          </p:cNvPr>
          <p:cNvSpPr txBox="1"/>
          <p:nvPr/>
        </p:nvSpPr>
        <p:spPr>
          <a:xfrm>
            <a:off x="4274388" y="4206088"/>
            <a:ext cx="7526547" cy="2308324"/>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Calculating simple word frequencies related to design did not appear to provide particularly meaningful insights.</a:t>
            </a:r>
          </a:p>
          <a:p>
            <a:endParaRPr lang="en" altLang="ko-KR" sz="1200" dirty="0">
              <a:solidFill>
                <a:srgbClr val="002060"/>
              </a:solidFill>
              <a:latin typeface="Gmarket Sans TTF Medium" panose="02000000000000000000" pitchFamily="2" charset="-128"/>
              <a:ea typeface="Gmarket Sans TTF Medium" panose="02000000000000000000" pitchFamily="2" charset="-128"/>
            </a:endParaRPr>
          </a:p>
          <a:p>
            <a:r>
              <a:rPr lang="en" altLang="ko-KR" sz="1200" dirty="0">
                <a:solidFill>
                  <a:srgbClr val="002060"/>
                </a:solidFill>
                <a:latin typeface="Gmarket Sans TTF Medium" panose="02000000000000000000" pitchFamily="2" charset="-128"/>
                <a:ea typeface="Gmarket Sans TTF Medium" panose="02000000000000000000" pitchFamily="2" charset="-128"/>
              </a:rPr>
              <a:t>In the KakaoTalk open chat rooms, users raised a wide variety of questions across different fields, including video design, UI design, and product design. Since users with different interests were grouped together under the broad category of “visual design,” it was unsurprising that their interests and questions varied considerably across different areas of design.</a:t>
            </a:r>
          </a:p>
          <a:p>
            <a:endParaRPr lang="en" sz="1200" dirty="0">
              <a:solidFill>
                <a:srgbClr val="002060"/>
              </a:solidFill>
              <a:latin typeface="Gmarket Sans TTF Medium" panose="02000000000000000000" pitchFamily="2" charset="-128"/>
              <a:ea typeface="Gmarket Sans TTF Medium" panose="02000000000000000000" pitchFamily="2" charset="-128"/>
            </a:endParaRPr>
          </a:p>
          <a:p>
            <a:r>
              <a:rPr lang="en-US" sz="1200" dirty="0">
                <a:solidFill>
                  <a:srgbClr val="002060"/>
                </a:solidFill>
                <a:latin typeface="Gmarket Sans TTF Medium" panose="02000000000000000000" pitchFamily="2" charset="-128"/>
                <a:ea typeface="Gmarket Sans TTF Medium" panose="02000000000000000000" pitchFamily="2" charset="-128"/>
              </a:rPr>
              <a:t>I also observed that when users had specific design-related questions, they often had to take a photo or capture a screenshot and upload it before asking their question, adding an extra layer of inconvenience to the process.</a:t>
            </a:r>
          </a:p>
        </p:txBody>
      </p:sp>
      <p:sp>
        <p:nvSpPr>
          <p:cNvPr id="14" name="TextBox 13">
            <a:extLst>
              <a:ext uri="{FF2B5EF4-FFF2-40B4-BE49-F238E27FC236}">
                <a16:creationId xmlns:a16="http://schemas.microsoft.com/office/drawing/2014/main" id="{5909FC94-44EC-8EAC-FBAB-DA2C75C2E76B}"/>
              </a:ext>
            </a:extLst>
          </p:cNvPr>
          <p:cNvSpPr txBox="1"/>
          <p:nvPr/>
        </p:nvSpPr>
        <p:spPr>
          <a:xfrm>
            <a:off x="11497579" y="6476142"/>
            <a:ext cx="550151" cy="246221"/>
          </a:xfrm>
          <a:prstGeom prst="rect">
            <a:avLst/>
          </a:prstGeom>
          <a:noFill/>
        </p:spPr>
        <p:txBody>
          <a:bodyPr wrap="none" rtlCol="0">
            <a:spAutoFit/>
          </a:bodyPr>
          <a:lstStyle/>
          <a:p>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3 / 19</a:t>
            </a:r>
          </a:p>
        </p:txBody>
      </p:sp>
    </p:spTree>
    <p:extLst>
      <p:ext uri="{BB962C8B-B14F-4D97-AF65-F5344CB8AC3E}">
        <p14:creationId xmlns:p14="http://schemas.microsoft.com/office/powerpoint/2010/main" val="307418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274227A-3C47-97A7-374C-5C0B25822D82}"/>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4C29EC50-2399-70F4-39C5-B20903B793F0}"/>
              </a:ext>
            </a:extLst>
          </p:cNvPr>
          <p:cNvSpPr/>
          <p:nvPr/>
        </p:nvSpPr>
        <p:spPr>
          <a:xfrm>
            <a:off x="0" y="0"/>
            <a:ext cx="12478043" cy="2171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FE0E277-7AAA-859A-9717-0C93CE1D4DC2}"/>
              </a:ext>
            </a:extLst>
          </p:cNvPr>
          <p:cNvSpPr txBox="1"/>
          <p:nvPr/>
        </p:nvSpPr>
        <p:spPr>
          <a:xfrm>
            <a:off x="495946" y="697488"/>
            <a:ext cx="4857420"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Text Analysis of Online Communities</a:t>
            </a:r>
          </a:p>
        </p:txBody>
      </p:sp>
      <p:sp>
        <p:nvSpPr>
          <p:cNvPr id="6" name="TextBox 5">
            <a:extLst>
              <a:ext uri="{FF2B5EF4-FFF2-40B4-BE49-F238E27FC236}">
                <a16:creationId xmlns:a16="http://schemas.microsoft.com/office/drawing/2014/main" id="{461BE67F-16F1-7D35-5D46-89E4E2C7090A}"/>
              </a:ext>
            </a:extLst>
          </p:cNvPr>
          <p:cNvSpPr txBox="1"/>
          <p:nvPr/>
        </p:nvSpPr>
        <p:spPr>
          <a:xfrm>
            <a:off x="4499289" y="2845559"/>
            <a:ext cx="5490100" cy="307777"/>
          </a:xfrm>
          <a:prstGeom prst="rect">
            <a:avLst/>
          </a:prstGeom>
          <a:solidFill>
            <a:srgbClr val="1A1D22"/>
          </a:solidFill>
        </p:spPr>
        <p:txBody>
          <a:bodyPr wrap="square">
            <a:spAutoFit/>
          </a:bodyPr>
          <a:lstStyle/>
          <a:p>
            <a:r>
              <a:rPr lang="en-US" sz="1400" dirty="0">
                <a:solidFill>
                  <a:schemeClr val="bg1"/>
                </a:solidFill>
                <a:latin typeface="Helvetica" pitchFamily="2" charset="0"/>
                <a:ea typeface="Gmarket Sans TTF Bold" panose="02000000000000000000" pitchFamily="2" charset="-128"/>
              </a:rPr>
              <a:t>#01. [Follow Along] A Must-Watch for Beginners [Adobe XD]</a:t>
            </a:r>
          </a:p>
        </p:txBody>
      </p:sp>
      <p:sp>
        <p:nvSpPr>
          <p:cNvPr id="7" name="TextBox 6">
            <a:extLst>
              <a:ext uri="{FF2B5EF4-FFF2-40B4-BE49-F238E27FC236}">
                <a16:creationId xmlns:a16="http://schemas.microsoft.com/office/drawing/2014/main" id="{07B5DFB1-EA00-9ECC-9584-19D5DAC8CD62}"/>
              </a:ext>
            </a:extLst>
          </p:cNvPr>
          <p:cNvSpPr txBox="1"/>
          <p:nvPr/>
        </p:nvSpPr>
        <p:spPr>
          <a:xfrm>
            <a:off x="697062" y="5329515"/>
            <a:ext cx="11083917" cy="954107"/>
          </a:xfrm>
          <a:prstGeom prst="rect">
            <a:avLst/>
          </a:prstGeom>
          <a:solidFill>
            <a:schemeClr val="bg1"/>
          </a:solidFill>
        </p:spPr>
        <p:txBody>
          <a:bodyPr wrap="square">
            <a:spAutoFit/>
          </a:bodyPr>
          <a:lstStyle/>
          <a:p>
            <a:pPr algn="ctr"/>
            <a:r>
              <a:rPr lang="en" altLang="ko-KR" sz="1400" dirty="0">
                <a:solidFill>
                  <a:srgbClr val="002060"/>
                </a:solidFill>
                <a:latin typeface="Gmarket Sans TTF Medium" panose="02000000000000000000" pitchFamily="2" charset="-128"/>
                <a:ea typeface="Gmarket Sans TTF Medium" panose="02000000000000000000" pitchFamily="2" charset="-128"/>
              </a:rPr>
              <a:t>Comments were collected from a video with approximately 72,000 views.</a:t>
            </a:r>
          </a:p>
          <a:p>
            <a:pPr algn="ctr"/>
            <a:endParaRPr lang="en" altLang="ko-KR" sz="1400" dirty="0">
              <a:solidFill>
                <a:srgbClr val="002060"/>
              </a:solidFill>
              <a:latin typeface="Gmarket Sans TTF Medium" panose="02000000000000000000" pitchFamily="2" charset="-128"/>
              <a:ea typeface="Gmarket Sans TTF Medium" panose="02000000000000000000" pitchFamily="2" charset="-128"/>
            </a:endParaRPr>
          </a:p>
          <a:p>
            <a:pPr algn="ctr"/>
            <a:r>
              <a:rPr lang="en" altLang="ko-KR" sz="1400" dirty="0">
                <a:solidFill>
                  <a:srgbClr val="002060"/>
                </a:solidFill>
                <a:latin typeface="Gmarket Sans TTF Medium" panose="02000000000000000000" pitchFamily="2" charset="-128"/>
                <a:ea typeface="Gmarket Sans TTF Medium" panose="02000000000000000000" pitchFamily="2" charset="-128"/>
              </a:rPr>
              <a:t>Using a “follow-along” format, the video explains the tools and features of Adobe XD step by step,</a:t>
            </a:r>
          </a:p>
          <a:p>
            <a:pPr algn="ctr"/>
            <a:r>
              <a:rPr lang="en" altLang="ko-KR" sz="1400" dirty="0">
                <a:solidFill>
                  <a:srgbClr val="002060"/>
                </a:solidFill>
                <a:latin typeface="Gmarket Sans TTF Medium" panose="02000000000000000000" pitchFamily="2" charset="-128"/>
                <a:ea typeface="Gmarket Sans TTF Medium" panose="02000000000000000000" pitchFamily="2" charset="-128"/>
              </a:rPr>
              <a:t>allowing viewers to follow the process themselves.</a:t>
            </a:r>
            <a:endParaRPr lang="en-US" sz="1400" dirty="0">
              <a:solidFill>
                <a:srgbClr val="002060"/>
              </a:solidFill>
              <a:latin typeface="Gmarket Sans TTF Medium" panose="02000000000000000000" pitchFamily="2" charset="-128"/>
              <a:ea typeface="Gmarket Sans TTF Medium" panose="02000000000000000000" pitchFamily="2" charset="-128"/>
            </a:endParaRPr>
          </a:p>
        </p:txBody>
      </p:sp>
      <p:pic>
        <p:nvPicPr>
          <p:cNvPr id="10" name="그림 9">
            <a:extLst>
              <a:ext uri="{FF2B5EF4-FFF2-40B4-BE49-F238E27FC236}">
                <a16:creationId xmlns:a16="http://schemas.microsoft.com/office/drawing/2014/main" id="{A6E7FBCA-867B-CE6B-8D4E-F24BDDD52E05}"/>
              </a:ext>
            </a:extLst>
          </p:cNvPr>
          <p:cNvPicPr>
            <a:picLocks noChangeAspect="1"/>
          </p:cNvPicPr>
          <p:nvPr/>
        </p:nvPicPr>
        <p:blipFill>
          <a:blip r:embed="rId3"/>
          <a:stretch>
            <a:fillRect/>
          </a:stretch>
        </p:blipFill>
        <p:spPr>
          <a:xfrm>
            <a:off x="238770" y="1252273"/>
            <a:ext cx="6745027" cy="648295"/>
          </a:xfrm>
          <a:prstGeom prst="rect">
            <a:avLst/>
          </a:prstGeom>
        </p:spPr>
      </p:pic>
      <p:sp>
        <p:nvSpPr>
          <p:cNvPr id="11" name="TextBox 10">
            <a:extLst>
              <a:ext uri="{FF2B5EF4-FFF2-40B4-BE49-F238E27FC236}">
                <a16:creationId xmlns:a16="http://schemas.microsoft.com/office/drawing/2014/main" id="{F7E185FD-FB5B-8999-0B89-FA68A4CF9A99}"/>
              </a:ext>
            </a:extLst>
          </p:cNvPr>
          <p:cNvSpPr txBox="1"/>
          <p:nvPr/>
        </p:nvSpPr>
        <p:spPr>
          <a:xfrm>
            <a:off x="11497579" y="6476142"/>
            <a:ext cx="551754" cy="246221"/>
          </a:xfrm>
          <a:prstGeom prst="rect">
            <a:avLst/>
          </a:prstGeom>
          <a:noFill/>
        </p:spPr>
        <p:txBody>
          <a:bodyPr wrap="none" rtlCol="0">
            <a:spAutoFit/>
          </a:bodyPr>
          <a:lstStyle/>
          <a:p>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4 / 19</a:t>
            </a:r>
          </a:p>
        </p:txBody>
      </p:sp>
    </p:spTree>
    <p:extLst>
      <p:ext uri="{BB962C8B-B14F-4D97-AF65-F5344CB8AC3E}">
        <p14:creationId xmlns:p14="http://schemas.microsoft.com/office/powerpoint/2010/main" val="2734142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B4286C8-24C8-A4F0-3ABE-65F63CA8C26A}"/>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1B970963-C783-79C1-D746-F313C53581E2}"/>
              </a:ext>
            </a:extLst>
          </p:cNvPr>
          <p:cNvSpPr/>
          <p:nvPr/>
        </p:nvSpPr>
        <p:spPr>
          <a:xfrm>
            <a:off x="0" y="0"/>
            <a:ext cx="12478043" cy="13974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FF2205-F9E0-3054-9CC8-99BD23BFB222}"/>
              </a:ext>
            </a:extLst>
          </p:cNvPr>
          <p:cNvSpPr txBox="1"/>
          <p:nvPr/>
        </p:nvSpPr>
        <p:spPr>
          <a:xfrm>
            <a:off x="495946" y="697488"/>
            <a:ext cx="4857420"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Text Analysis of Online Communities</a:t>
            </a:r>
          </a:p>
        </p:txBody>
      </p:sp>
      <p:sp>
        <p:nvSpPr>
          <p:cNvPr id="5" name="TextBox 4">
            <a:extLst>
              <a:ext uri="{FF2B5EF4-FFF2-40B4-BE49-F238E27FC236}">
                <a16:creationId xmlns:a16="http://schemas.microsoft.com/office/drawing/2014/main" id="{4F47478B-E364-0769-9E81-AC661E2D4368}"/>
              </a:ext>
            </a:extLst>
          </p:cNvPr>
          <p:cNvSpPr txBox="1"/>
          <p:nvPr/>
        </p:nvSpPr>
        <p:spPr>
          <a:xfrm>
            <a:off x="922925" y="1500458"/>
            <a:ext cx="6236898" cy="400110"/>
          </a:xfrm>
          <a:prstGeom prst="rect">
            <a:avLst/>
          </a:prstGeom>
          <a:solidFill>
            <a:schemeClr val="bg1"/>
          </a:solidFill>
        </p:spPr>
        <p:txBody>
          <a:bodyPr wrap="square">
            <a:spAutoFit/>
          </a:bodyPr>
          <a:lstStyle/>
          <a:p>
            <a:r>
              <a:rPr lang="en-US" sz="2000" b="1" dirty="0">
                <a:solidFill>
                  <a:srgbClr val="002060"/>
                </a:solidFill>
                <a:latin typeface="Gmarket Sans TTF Bold" panose="02000000000000000000" pitchFamily="2" charset="-128"/>
                <a:ea typeface="Gmarket Sans TTF Bold" panose="02000000000000000000" pitchFamily="2" charset="-128"/>
              </a:rPr>
              <a:t>Comments on a YouTube Design Tutorial</a:t>
            </a:r>
          </a:p>
        </p:txBody>
      </p:sp>
      <p:pic>
        <p:nvPicPr>
          <p:cNvPr id="6" name="그림 5">
            <a:extLst>
              <a:ext uri="{FF2B5EF4-FFF2-40B4-BE49-F238E27FC236}">
                <a16:creationId xmlns:a16="http://schemas.microsoft.com/office/drawing/2014/main" id="{AC7438CC-A4D5-58A8-9B5D-5B2A2B0E8361}"/>
              </a:ext>
            </a:extLst>
          </p:cNvPr>
          <p:cNvPicPr>
            <a:picLocks noChangeAspect="1"/>
          </p:cNvPicPr>
          <p:nvPr/>
        </p:nvPicPr>
        <p:blipFill>
          <a:blip r:embed="rId3"/>
          <a:stretch>
            <a:fillRect/>
          </a:stretch>
        </p:blipFill>
        <p:spPr>
          <a:xfrm>
            <a:off x="238770" y="1252273"/>
            <a:ext cx="6745027" cy="648295"/>
          </a:xfrm>
          <a:prstGeom prst="rect">
            <a:avLst/>
          </a:prstGeom>
        </p:spPr>
      </p:pic>
      <p:sp>
        <p:nvSpPr>
          <p:cNvPr id="7" name="TextBox 6">
            <a:extLst>
              <a:ext uri="{FF2B5EF4-FFF2-40B4-BE49-F238E27FC236}">
                <a16:creationId xmlns:a16="http://schemas.microsoft.com/office/drawing/2014/main" id="{7329BC21-C6EC-1C27-2893-FF0081BD6C34}"/>
              </a:ext>
            </a:extLst>
          </p:cNvPr>
          <p:cNvSpPr txBox="1"/>
          <p:nvPr/>
        </p:nvSpPr>
        <p:spPr>
          <a:xfrm>
            <a:off x="4831600" y="2319093"/>
            <a:ext cx="6927013" cy="1600438"/>
          </a:xfrm>
          <a:prstGeom prst="rect">
            <a:avLst/>
          </a:prstGeom>
          <a:solidFill>
            <a:schemeClr val="bg1"/>
          </a:solidFill>
        </p:spPr>
        <p:txBody>
          <a:bodyPr wrap="square">
            <a:spAutoFit/>
          </a:bodyPr>
          <a:lstStyle/>
          <a:p>
            <a:r>
              <a:rPr lang="en" altLang="ko-KR" sz="1400" dirty="0">
                <a:solidFill>
                  <a:srgbClr val="002060"/>
                </a:solidFill>
                <a:latin typeface="Gmarket Sans TTF Medium" panose="02000000000000000000" pitchFamily="2" charset="-128"/>
                <a:ea typeface="Gmarket Sans TTF Medium" panose="02000000000000000000" pitchFamily="2" charset="-128"/>
              </a:rPr>
              <a:t>Given the nature of YouTube as a video-based community,</a:t>
            </a:r>
          </a:p>
          <a:p>
            <a:r>
              <a:rPr lang="en" altLang="ko-KR" sz="1400" dirty="0">
                <a:solidFill>
                  <a:srgbClr val="002060"/>
                </a:solidFill>
                <a:latin typeface="Gmarket Sans TTF Medium" panose="02000000000000000000" pitchFamily="2" charset="-128"/>
                <a:ea typeface="Gmarket Sans TTF Medium" panose="02000000000000000000" pitchFamily="2" charset="-128"/>
              </a:rPr>
              <a:t>I were able to read and categorize individual comments.</a:t>
            </a:r>
          </a:p>
          <a:p>
            <a:endParaRPr lang="en" altLang="ko-KR" sz="1400" dirty="0">
              <a:solidFill>
                <a:srgbClr val="002060"/>
              </a:solidFill>
              <a:latin typeface="Gmarket Sans TTF Medium" panose="02000000000000000000" pitchFamily="2" charset="-128"/>
              <a:ea typeface="Gmarket Sans TTF Medium" panose="02000000000000000000" pitchFamily="2" charset="-128"/>
            </a:endParaRPr>
          </a:p>
          <a:p>
            <a:r>
              <a:rPr lang="en" altLang="ko-KR" sz="1400" dirty="0">
                <a:solidFill>
                  <a:srgbClr val="002060"/>
                </a:solidFill>
                <a:latin typeface="Gmarket Sans TTF Medium" panose="02000000000000000000" pitchFamily="2" charset="-128"/>
                <a:ea typeface="Gmarket Sans TTF Medium" panose="02000000000000000000" pitchFamily="2" charset="-128"/>
              </a:rPr>
              <a:t>Some comments could be classified as “Appreciation,” “Summary,” or “Feedback,” while many others fell into categories such as “Design Method Questions,” “Design Experience Questions,” “Software-Related Questions,” and “Design Software Recommendations.”</a:t>
            </a:r>
            <a:endParaRPr lang="en-US" sz="1400" dirty="0">
              <a:solidFill>
                <a:srgbClr val="002060"/>
              </a:solidFill>
              <a:latin typeface="Gmarket Sans TTF Medium" panose="02000000000000000000" pitchFamily="2" charset="-128"/>
              <a:ea typeface="Gmarket Sans TTF Medium" panose="02000000000000000000" pitchFamily="2" charset="-128"/>
            </a:endParaRPr>
          </a:p>
        </p:txBody>
      </p:sp>
      <p:sp>
        <p:nvSpPr>
          <p:cNvPr id="8" name="TextBox 7">
            <a:extLst>
              <a:ext uri="{FF2B5EF4-FFF2-40B4-BE49-F238E27FC236}">
                <a16:creationId xmlns:a16="http://schemas.microsoft.com/office/drawing/2014/main" id="{2C61BD89-A6F0-0DB5-DA3F-C958C06A119E}"/>
              </a:ext>
            </a:extLst>
          </p:cNvPr>
          <p:cNvSpPr txBox="1"/>
          <p:nvPr/>
        </p:nvSpPr>
        <p:spPr>
          <a:xfrm>
            <a:off x="9194343" y="3990971"/>
            <a:ext cx="2850020" cy="2677656"/>
          </a:xfrm>
          <a:prstGeom prst="rect">
            <a:avLst/>
          </a:prstGeom>
          <a:solidFill>
            <a:schemeClr val="bg1"/>
          </a:solidFill>
        </p:spPr>
        <p:txBody>
          <a:bodyPr wrap="square">
            <a:spAutoFit/>
          </a:bodyPr>
          <a:lstStyle/>
          <a:p>
            <a:r>
              <a:rPr lang="en" altLang="ko-KR" sz="1050" dirty="0">
                <a:solidFill>
                  <a:srgbClr val="002060"/>
                </a:solidFill>
                <a:latin typeface="Gmarket Sans TTF Medium" panose="02000000000000000000" pitchFamily="2" charset="-128"/>
                <a:ea typeface="Gmarket Sans TTF Medium" panose="02000000000000000000" pitchFamily="2" charset="-128"/>
              </a:rPr>
              <a:t>Because the YouTube video was a tutorial focused on a specific software application, the scope of the questions was narrowed to that particular software and its features.</a:t>
            </a:r>
          </a:p>
          <a:p>
            <a:endParaRPr lang="en" altLang="ko-KR" sz="1050" dirty="0">
              <a:solidFill>
                <a:srgbClr val="002060"/>
              </a:solidFill>
              <a:latin typeface="Gmarket Sans TTF Medium" panose="02000000000000000000" pitchFamily="2" charset="-128"/>
              <a:ea typeface="Gmarket Sans TTF Medium" panose="02000000000000000000" pitchFamily="2" charset="-128"/>
            </a:endParaRPr>
          </a:p>
          <a:p>
            <a:r>
              <a:rPr lang="en" altLang="ko-KR" sz="1050" dirty="0">
                <a:solidFill>
                  <a:srgbClr val="002060"/>
                </a:solidFill>
                <a:latin typeface="Gmarket Sans TTF Medium" panose="02000000000000000000" pitchFamily="2" charset="-128"/>
                <a:ea typeface="Gmarket Sans TTF Medium" panose="02000000000000000000" pitchFamily="2" charset="-128"/>
              </a:rPr>
              <a:t>Keywords such as “mouse” and “me too” also stood out in the word cloud.</a:t>
            </a:r>
          </a:p>
          <a:p>
            <a:endParaRPr lang="en" altLang="ko-KR" sz="1050" dirty="0">
              <a:solidFill>
                <a:srgbClr val="002060"/>
              </a:solidFill>
              <a:latin typeface="Gmarket Sans TTF Medium" panose="02000000000000000000" pitchFamily="2" charset="-128"/>
              <a:ea typeface="Gmarket Sans TTF Medium" panose="02000000000000000000" pitchFamily="2" charset="-128"/>
            </a:endParaRPr>
          </a:p>
          <a:p>
            <a:r>
              <a:rPr lang="en" altLang="ko-KR" sz="1050" dirty="0">
                <a:solidFill>
                  <a:srgbClr val="002060"/>
                </a:solidFill>
                <a:latin typeface="Gmarket Sans TTF Medium" panose="02000000000000000000" pitchFamily="2" charset="-128"/>
                <a:ea typeface="Gmarket Sans TTF Medium" panose="02000000000000000000" pitchFamily="2" charset="-128"/>
              </a:rPr>
              <a:t>Users could also refer to specific timestamps in the video when asking questions, making communication between the video creator (instructor) and viewers more convenient and context-specific.</a:t>
            </a:r>
            <a:endParaRPr lang="en-US" sz="1050" dirty="0">
              <a:solidFill>
                <a:srgbClr val="002060"/>
              </a:solidFill>
              <a:latin typeface="Gmarket Sans TTF Medium" panose="02000000000000000000" pitchFamily="2" charset="-128"/>
              <a:ea typeface="Gmarket Sans TTF Medium" panose="02000000000000000000" pitchFamily="2" charset="-128"/>
            </a:endParaRPr>
          </a:p>
        </p:txBody>
      </p:sp>
      <p:sp>
        <p:nvSpPr>
          <p:cNvPr id="9" name="TextBox 8">
            <a:extLst>
              <a:ext uri="{FF2B5EF4-FFF2-40B4-BE49-F238E27FC236}">
                <a16:creationId xmlns:a16="http://schemas.microsoft.com/office/drawing/2014/main" id="{7B5382F4-BF8A-34F8-5C1C-3EC924A8DD23}"/>
              </a:ext>
            </a:extLst>
          </p:cNvPr>
          <p:cNvSpPr txBox="1"/>
          <p:nvPr/>
        </p:nvSpPr>
        <p:spPr>
          <a:xfrm>
            <a:off x="11497579" y="6476142"/>
            <a:ext cx="550151" cy="246221"/>
          </a:xfrm>
          <a:prstGeom prst="rect">
            <a:avLst/>
          </a:prstGeom>
          <a:noFill/>
        </p:spPr>
        <p:txBody>
          <a:bodyPr wrap="none" rtlCol="0">
            <a:spAutoFit/>
          </a:bodyPr>
          <a:lstStyle/>
          <a:p>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5 / 19</a:t>
            </a:r>
          </a:p>
        </p:txBody>
      </p:sp>
    </p:spTree>
    <p:extLst>
      <p:ext uri="{BB962C8B-B14F-4D97-AF65-F5344CB8AC3E}">
        <p14:creationId xmlns:p14="http://schemas.microsoft.com/office/powerpoint/2010/main" val="3822537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EF57C21-B577-838F-E6FA-8A3999BE7963}"/>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454EB9C8-8639-E1B2-6775-C03B3156EA78}"/>
              </a:ext>
            </a:extLst>
          </p:cNvPr>
          <p:cNvSpPr/>
          <p:nvPr/>
        </p:nvSpPr>
        <p:spPr>
          <a:xfrm>
            <a:off x="0" y="0"/>
            <a:ext cx="12478043" cy="13974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FFCCF4E-AB0A-62CF-9E56-426F88F726B6}"/>
              </a:ext>
            </a:extLst>
          </p:cNvPr>
          <p:cNvSpPr txBox="1"/>
          <p:nvPr/>
        </p:nvSpPr>
        <p:spPr>
          <a:xfrm>
            <a:off x="495946" y="697488"/>
            <a:ext cx="4857420"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Text Analysis of Online Communities</a:t>
            </a:r>
          </a:p>
        </p:txBody>
      </p:sp>
      <p:pic>
        <p:nvPicPr>
          <p:cNvPr id="6" name="그림 5">
            <a:extLst>
              <a:ext uri="{FF2B5EF4-FFF2-40B4-BE49-F238E27FC236}">
                <a16:creationId xmlns:a16="http://schemas.microsoft.com/office/drawing/2014/main" id="{F97B06AB-3C60-07F2-9599-A456C11C47B0}"/>
              </a:ext>
            </a:extLst>
          </p:cNvPr>
          <p:cNvPicPr>
            <a:picLocks noChangeAspect="1"/>
          </p:cNvPicPr>
          <p:nvPr/>
        </p:nvPicPr>
        <p:blipFill>
          <a:blip r:embed="rId3"/>
          <a:stretch>
            <a:fillRect/>
          </a:stretch>
        </p:blipFill>
        <p:spPr>
          <a:xfrm>
            <a:off x="238770" y="1252273"/>
            <a:ext cx="6745027" cy="648295"/>
          </a:xfrm>
          <a:prstGeom prst="rect">
            <a:avLst/>
          </a:prstGeom>
        </p:spPr>
      </p:pic>
      <p:sp>
        <p:nvSpPr>
          <p:cNvPr id="7" name="TextBox 6">
            <a:extLst>
              <a:ext uri="{FF2B5EF4-FFF2-40B4-BE49-F238E27FC236}">
                <a16:creationId xmlns:a16="http://schemas.microsoft.com/office/drawing/2014/main" id="{2F20A468-5875-09A9-4CBE-E4F00DD7E9D8}"/>
              </a:ext>
            </a:extLst>
          </p:cNvPr>
          <p:cNvSpPr txBox="1"/>
          <p:nvPr/>
        </p:nvSpPr>
        <p:spPr>
          <a:xfrm>
            <a:off x="4603000" y="1900568"/>
            <a:ext cx="6927013" cy="1600438"/>
          </a:xfrm>
          <a:prstGeom prst="rect">
            <a:avLst/>
          </a:prstGeom>
          <a:solidFill>
            <a:schemeClr val="bg1"/>
          </a:solidFill>
        </p:spPr>
        <p:txBody>
          <a:bodyPr wrap="square">
            <a:spAutoFit/>
          </a:bodyPr>
          <a:lstStyle/>
          <a:p>
            <a:r>
              <a:rPr lang="en" altLang="ko-KR" sz="1400" dirty="0">
                <a:solidFill>
                  <a:srgbClr val="002060"/>
                </a:solidFill>
                <a:latin typeface="Gmarket Sans TTF Medium" panose="02000000000000000000" pitchFamily="2" charset="-128"/>
                <a:ea typeface="Gmarket Sans TTF Medium" panose="02000000000000000000" pitchFamily="2" charset="-128"/>
              </a:rPr>
              <a:t>I grouped “Feedback,” “Summary Comments,” and “Appreciation Comments” under “Other Comments.”</a:t>
            </a:r>
          </a:p>
          <a:p>
            <a:endParaRPr lang="en" altLang="ko-KR" sz="1400" dirty="0">
              <a:solidFill>
                <a:srgbClr val="002060"/>
              </a:solidFill>
              <a:latin typeface="Gmarket Sans TTF Medium" panose="02000000000000000000" pitchFamily="2" charset="-128"/>
              <a:ea typeface="Gmarket Sans TTF Medium" panose="02000000000000000000" pitchFamily="2" charset="-128"/>
            </a:endParaRPr>
          </a:p>
          <a:p>
            <a:r>
              <a:rPr lang="en" altLang="ko-KR" sz="1400" dirty="0">
                <a:solidFill>
                  <a:srgbClr val="002060"/>
                </a:solidFill>
                <a:latin typeface="Gmarket Sans TTF Medium" panose="02000000000000000000" pitchFamily="2" charset="-128"/>
                <a:ea typeface="Gmarket Sans TTF Medium" panose="02000000000000000000" pitchFamily="2" charset="-128"/>
              </a:rPr>
              <a:t>“Design Method Questions” and “Design Experience Questions” were grouped under “Design-Related Comments,” while “Software-Related Questions” and “Design Software Recommendations” were grouped under “Software-Related Comments.”</a:t>
            </a:r>
            <a:endParaRPr lang="en-US" sz="1400" dirty="0">
              <a:solidFill>
                <a:srgbClr val="002060"/>
              </a:solidFill>
              <a:latin typeface="Gmarket Sans TTF Medium" panose="02000000000000000000" pitchFamily="2" charset="-128"/>
              <a:ea typeface="Gmarket Sans TTF Medium" panose="02000000000000000000" pitchFamily="2" charset="-128"/>
            </a:endParaRPr>
          </a:p>
        </p:txBody>
      </p:sp>
      <p:sp>
        <p:nvSpPr>
          <p:cNvPr id="8" name="TextBox 7">
            <a:extLst>
              <a:ext uri="{FF2B5EF4-FFF2-40B4-BE49-F238E27FC236}">
                <a16:creationId xmlns:a16="http://schemas.microsoft.com/office/drawing/2014/main" id="{43DC9C25-09E6-FFEA-B943-7566F2F6D4C0}"/>
              </a:ext>
            </a:extLst>
          </p:cNvPr>
          <p:cNvSpPr txBox="1"/>
          <p:nvPr/>
        </p:nvSpPr>
        <p:spPr>
          <a:xfrm>
            <a:off x="6384175" y="4238955"/>
            <a:ext cx="5807825" cy="2462213"/>
          </a:xfrm>
          <a:prstGeom prst="rect">
            <a:avLst/>
          </a:prstGeom>
          <a:solidFill>
            <a:schemeClr val="bg1"/>
          </a:solidFill>
        </p:spPr>
        <p:txBody>
          <a:bodyPr wrap="square">
            <a:spAutoFit/>
          </a:bodyPr>
          <a:lstStyle/>
          <a:p>
            <a:r>
              <a:rPr lang="en" altLang="ko-KR" sz="1400" dirty="0">
                <a:solidFill>
                  <a:srgbClr val="002060"/>
                </a:solidFill>
                <a:latin typeface="Gmarket Sans TTF Medium" panose="02000000000000000000" pitchFamily="2" charset="-128"/>
                <a:ea typeface="Gmarket Sans TTF Medium" panose="02000000000000000000" pitchFamily="2" charset="-128"/>
              </a:rPr>
              <a:t>I then conducted selective coding by identifying relationships among the categories.</a:t>
            </a:r>
          </a:p>
          <a:p>
            <a:r>
              <a:rPr lang="en" altLang="ko-KR" sz="1400" dirty="0">
                <a:solidFill>
                  <a:srgbClr val="002060"/>
                </a:solidFill>
                <a:latin typeface="Gmarket Sans TTF Medium" panose="02000000000000000000" pitchFamily="2" charset="-128"/>
                <a:ea typeface="Gmarket Sans TTF Medium" panose="02000000000000000000" pitchFamily="2" charset="-128"/>
              </a:rPr>
              <a:t>Comments on the YouTube design tutorial could broadly be divided into two categories: Design-Interest Comments and Other Comments.</a:t>
            </a:r>
          </a:p>
          <a:p>
            <a:endParaRPr lang="en" altLang="ko-KR" sz="1400" dirty="0">
              <a:solidFill>
                <a:srgbClr val="002060"/>
              </a:solidFill>
              <a:latin typeface="Gmarket Sans TTF Medium" panose="02000000000000000000" pitchFamily="2" charset="-128"/>
              <a:ea typeface="Gmarket Sans TTF Medium" panose="02000000000000000000" pitchFamily="2" charset="-128"/>
            </a:endParaRPr>
          </a:p>
          <a:p>
            <a:r>
              <a:rPr lang="en" altLang="ko-KR" sz="1400" dirty="0">
                <a:solidFill>
                  <a:srgbClr val="002060"/>
                </a:solidFill>
                <a:latin typeface="Gmarket Sans TTF Medium" panose="02000000000000000000" pitchFamily="2" charset="-128"/>
                <a:ea typeface="Gmarket Sans TTF Medium" panose="02000000000000000000" pitchFamily="2" charset="-128"/>
              </a:rPr>
              <a:t>Since the selected YouTube video focused on a specific design tool, Adobe XD, there were relatively more design-related comments asking about specific ways to use the tools and features demonstrated in the tutorial than general software-related comments.</a:t>
            </a:r>
            <a:endParaRPr lang="en-US" sz="1400" dirty="0">
              <a:solidFill>
                <a:srgbClr val="002060"/>
              </a:solidFill>
              <a:latin typeface="Gmarket Sans TTF Medium" panose="02000000000000000000" pitchFamily="2" charset="-128"/>
              <a:ea typeface="Gmarket Sans TTF Medium" panose="02000000000000000000" pitchFamily="2" charset="-128"/>
            </a:endParaRPr>
          </a:p>
        </p:txBody>
      </p:sp>
      <p:sp>
        <p:nvSpPr>
          <p:cNvPr id="9" name="직사각형 8">
            <a:extLst>
              <a:ext uri="{FF2B5EF4-FFF2-40B4-BE49-F238E27FC236}">
                <a16:creationId xmlns:a16="http://schemas.microsoft.com/office/drawing/2014/main" id="{E9654162-2C9A-956E-C83D-D3568772BD33}"/>
              </a:ext>
            </a:extLst>
          </p:cNvPr>
          <p:cNvSpPr/>
          <p:nvPr/>
        </p:nvSpPr>
        <p:spPr>
          <a:xfrm>
            <a:off x="5038433" y="3729038"/>
            <a:ext cx="6927014" cy="465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EE4258F-3803-40B8-7680-0282726BC515}"/>
              </a:ext>
            </a:extLst>
          </p:cNvPr>
          <p:cNvSpPr txBox="1"/>
          <p:nvPr/>
        </p:nvSpPr>
        <p:spPr>
          <a:xfrm>
            <a:off x="11497579" y="6476142"/>
            <a:ext cx="548548" cy="246221"/>
          </a:xfrm>
          <a:prstGeom prst="rect">
            <a:avLst/>
          </a:prstGeom>
          <a:noFill/>
        </p:spPr>
        <p:txBody>
          <a:bodyPr wrap="none" rtlCol="0">
            <a:spAutoFit/>
          </a:bodyPr>
          <a:lstStyle/>
          <a:p>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6 / 19</a:t>
            </a:r>
          </a:p>
        </p:txBody>
      </p:sp>
    </p:spTree>
    <p:extLst>
      <p:ext uri="{BB962C8B-B14F-4D97-AF65-F5344CB8AC3E}">
        <p14:creationId xmlns:p14="http://schemas.microsoft.com/office/powerpoint/2010/main" val="586378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26E6C7-ED15-7DA8-0A01-173651DD9AE3}"/>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66BE4AE7-A7BE-C178-5A34-271651DB5A44}"/>
              </a:ext>
            </a:extLst>
          </p:cNvPr>
          <p:cNvSpPr/>
          <p:nvPr/>
        </p:nvSpPr>
        <p:spPr>
          <a:xfrm>
            <a:off x="0" y="0"/>
            <a:ext cx="12478043"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70283D9-CC9C-E37A-4CF0-B047F37EF1EB}"/>
              </a:ext>
            </a:extLst>
          </p:cNvPr>
          <p:cNvSpPr txBox="1"/>
          <p:nvPr/>
        </p:nvSpPr>
        <p:spPr>
          <a:xfrm>
            <a:off x="495946" y="697488"/>
            <a:ext cx="4857420"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Text Analysis of Online Communities</a:t>
            </a:r>
          </a:p>
        </p:txBody>
      </p:sp>
      <p:pic>
        <p:nvPicPr>
          <p:cNvPr id="6" name="그림 5">
            <a:extLst>
              <a:ext uri="{FF2B5EF4-FFF2-40B4-BE49-F238E27FC236}">
                <a16:creationId xmlns:a16="http://schemas.microsoft.com/office/drawing/2014/main" id="{EF91E85A-5F9C-1DC2-FEF8-AABD9C15DD32}"/>
              </a:ext>
            </a:extLst>
          </p:cNvPr>
          <p:cNvPicPr>
            <a:picLocks noChangeAspect="1"/>
          </p:cNvPicPr>
          <p:nvPr/>
        </p:nvPicPr>
        <p:blipFill>
          <a:blip r:embed="rId3"/>
          <a:stretch>
            <a:fillRect/>
          </a:stretch>
        </p:blipFill>
        <p:spPr>
          <a:xfrm>
            <a:off x="738832" y="1557338"/>
            <a:ext cx="4851400" cy="685800"/>
          </a:xfrm>
          <a:prstGeom prst="rect">
            <a:avLst/>
          </a:prstGeom>
        </p:spPr>
      </p:pic>
      <p:pic>
        <p:nvPicPr>
          <p:cNvPr id="7" name="그림 6">
            <a:extLst>
              <a:ext uri="{FF2B5EF4-FFF2-40B4-BE49-F238E27FC236}">
                <a16:creationId xmlns:a16="http://schemas.microsoft.com/office/drawing/2014/main" id="{F85A27BB-6A32-CEBA-2867-781FBC54EB3D}"/>
              </a:ext>
            </a:extLst>
          </p:cNvPr>
          <p:cNvPicPr>
            <a:picLocks noChangeAspect="1"/>
          </p:cNvPicPr>
          <p:nvPr/>
        </p:nvPicPr>
        <p:blipFill>
          <a:blip r:embed="rId4"/>
          <a:stretch>
            <a:fillRect/>
          </a:stretch>
        </p:blipFill>
        <p:spPr>
          <a:xfrm>
            <a:off x="738832" y="3575501"/>
            <a:ext cx="6745027" cy="648295"/>
          </a:xfrm>
          <a:prstGeom prst="rect">
            <a:avLst/>
          </a:prstGeom>
        </p:spPr>
      </p:pic>
      <p:sp>
        <p:nvSpPr>
          <p:cNvPr id="8" name="TextBox 7">
            <a:extLst>
              <a:ext uri="{FF2B5EF4-FFF2-40B4-BE49-F238E27FC236}">
                <a16:creationId xmlns:a16="http://schemas.microsoft.com/office/drawing/2014/main" id="{AACAD960-F4A5-CE03-A12E-C11F28B64171}"/>
              </a:ext>
            </a:extLst>
          </p:cNvPr>
          <p:cNvSpPr txBox="1"/>
          <p:nvPr/>
        </p:nvSpPr>
        <p:spPr>
          <a:xfrm>
            <a:off x="961555" y="2190506"/>
            <a:ext cx="11116145" cy="1384995"/>
          </a:xfrm>
          <a:prstGeom prst="rect">
            <a:avLst/>
          </a:prstGeom>
          <a:solidFill>
            <a:schemeClr val="bg1"/>
          </a:solidFill>
        </p:spPr>
        <p:txBody>
          <a:bodyPr wrap="square">
            <a:spAutoFit/>
          </a:bodyPr>
          <a:lstStyle/>
          <a:p>
            <a:r>
              <a:rPr lang="en" altLang="ko-KR" sz="1400" dirty="0">
                <a:solidFill>
                  <a:srgbClr val="002060"/>
                </a:solidFill>
                <a:latin typeface="Gmarket Sans TTF Medium" panose="02000000000000000000" pitchFamily="2" charset="-128"/>
                <a:ea typeface="Gmarket Sans TTF Medium" panose="02000000000000000000" pitchFamily="2" charset="-128"/>
              </a:rPr>
              <a:t>In the KakaoTalk Open Chat Room, approximately 1,000 users interested in the broad category of “design” gathered to discuss their respective areas of interest.</a:t>
            </a:r>
          </a:p>
          <a:p>
            <a:endParaRPr lang="en" altLang="ko-KR" sz="1400" dirty="0">
              <a:solidFill>
                <a:srgbClr val="002060"/>
              </a:solidFill>
              <a:latin typeface="Gmarket Sans TTF Medium" panose="02000000000000000000" pitchFamily="2" charset="-128"/>
              <a:ea typeface="Gmarket Sans TTF Medium" panose="02000000000000000000" pitchFamily="2" charset="-128"/>
            </a:endParaRPr>
          </a:p>
          <a:p>
            <a:r>
              <a:rPr lang="en" altLang="ko-KR" sz="1400" dirty="0">
                <a:solidFill>
                  <a:srgbClr val="002060"/>
                </a:solidFill>
                <a:latin typeface="Gmarket Sans TTF Medium" panose="02000000000000000000" pitchFamily="2" charset="-128"/>
                <a:ea typeface="Gmarket Sans TTF Medium" panose="02000000000000000000" pitchFamily="2" charset="-128"/>
              </a:rPr>
              <a:t>Because the conversations were spread across many different design fields, the corpus was highly fragmented. As a result, the word cloud did not reveal particularly meaningful patterns, and it was difficult to code the conversations into specific design subfields.</a:t>
            </a:r>
            <a:endParaRPr lang="en-US" sz="1400" dirty="0">
              <a:solidFill>
                <a:srgbClr val="002060"/>
              </a:solidFill>
              <a:latin typeface="Gmarket Sans TTF Medium" panose="02000000000000000000" pitchFamily="2" charset="-128"/>
              <a:ea typeface="Gmarket Sans TTF Medium" panose="02000000000000000000" pitchFamily="2" charset="-128"/>
            </a:endParaRPr>
          </a:p>
        </p:txBody>
      </p:sp>
      <p:sp>
        <p:nvSpPr>
          <p:cNvPr id="9" name="TextBox 8">
            <a:extLst>
              <a:ext uri="{FF2B5EF4-FFF2-40B4-BE49-F238E27FC236}">
                <a16:creationId xmlns:a16="http://schemas.microsoft.com/office/drawing/2014/main" id="{F0736ACE-4F0B-EE65-7E28-448593C8A3E8}"/>
              </a:ext>
            </a:extLst>
          </p:cNvPr>
          <p:cNvSpPr txBox="1"/>
          <p:nvPr/>
        </p:nvSpPr>
        <p:spPr>
          <a:xfrm>
            <a:off x="961556" y="4288790"/>
            <a:ext cx="11116144" cy="2031325"/>
          </a:xfrm>
          <a:prstGeom prst="rect">
            <a:avLst/>
          </a:prstGeom>
          <a:solidFill>
            <a:schemeClr val="bg1"/>
          </a:solidFill>
        </p:spPr>
        <p:txBody>
          <a:bodyPr wrap="square">
            <a:spAutoFit/>
          </a:bodyPr>
          <a:lstStyle/>
          <a:p>
            <a:r>
              <a:rPr lang="en" altLang="ko-KR" sz="1400" dirty="0">
                <a:solidFill>
                  <a:srgbClr val="002060"/>
                </a:solidFill>
                <a:latin typeface="Gmarket Sans TTF Medium" panose="02000000000000000000" pitchFamily="2" charset="-128"/>
                <a:ea typeface="Gmarket Sans TTF Medium" panose="02000000000000000000" pitchFamily="2" charset="-128"/>
              </a:rPr>
              <a:t>In contrast, the YouTube design tutorial focused on clearly defined topics—Adobe XD and mobile design—allowing viewers with shared and specific interests to communicate through the comments.</a:t>
            </a:r>
          </a:p>
          <a:p>
            <a:endParaRPr lang="en" altLang="ko-KR" sz="1400" dirty="0">
              <a:solidFill>
                <a:srgbClr val="002060"/>
              </a:solidFill>
              <a:latin typeface="Gmarket Sans TTF Medium" panose="02000000000000000000" pitchFamily="2" charset="-128"/>
              <a:ea typeface="Gmarket Sans TTF Medium" panose="02000000000000000000" pitchFamily="2" charset="-128"/>
            </a:endParaRPr>
          </a:p>
          <a:p>
            <a:r>
              <a:rPr lang="en" altLang="ko-KR" sz="1400" dirty="0">
                <a:solidFill>
                  <a:srgbClr val="002060"/>
                </a:solidFill>
                <a:latin typeface="Gmarket Sans TTF Medium" panose="02000000000000000000" pitchFamily="2" charset="-128"/>
                <a:ea typeface="Gmarket Sans TTF Medium" panose="02000000000000000000" pitchFamily="2" charset="-128"/>
              </a:rPr>
              <a:t>A closer examination of the coding results from the YouTube comments revealed a high frequency of keywords such as “mouse” and “cursor.”</a:t>
            </a:r>
          </a:p>
          <a:p>
            <a:endParaRPr lang="en" altLang="ko-KR" sz="1400" dirty="0">
              <a:solidFill>
                <a:srgbClr val="002060"/>
              </a:solidFill>
              <a:latin typeface="Gmarket Sans TTF Medium" panose="02000000000000000000" pitchFamily="2" charset="-128"/>
              <a:ea typeface="Gmarket Sans TTF Medium" panose="02000000000000000000" pitchFamily="2" charset="-128"/>
            </a:endParaRPr>
          </a:p>
          <a:p>
            <a:r>
              <a:rPr lang="en" altLang="ko-KR" sz="1400" dirty="0">
                <a:solidFill>
                  <a:srgbClr val="002060"/>
                </a:solidFill>
                <a:latin typeface="Gmarket Sans TTF Medium" panose="02000000000000000000" pitchFamily="2" charset="-128"/>
                <a:ea typeface="Gmarket Sans TTF Medium" panose="02000000000000000000" pitchFamily="2" charset="-128"/>
              </a:rPr>
              <a:t>After analyzing multiple comments containing these keywords, we identified a recurring issue: viewers needed to follow the instructor’s actions on screen, but the mouse cursor was difficult to see clearly. This appeared to be a common usability problem experienced by multiple viewers.</a:t>
            </a:r>
            <a:endParaRPr lang="en-US" sz="1400" dirty="0">
              <a:solidFill>
                <a:srgbClr val="002060"/>
              </a:solidFill>
              <a:latin typeface="Gmarket Sans TTF Medium" panose="02000000000000000000" pitchFamily="2" charset="-128"/>
              <a:ea typeface="Gmarket Sans TTF Medium" panose="02000000000000000000" pitchFamily="2" charset="-128"/>
            </a:endParaRPr>
          </a:p>
        </p:txBody>
      </p:sp>
      <p:sp>
        <p:nvSpPr>
          <p:cNvPr id="10" name="TextBox 9">
            <a:extLst>
              <a:ext uri="{FF2B5EF4-FFF2-40B4-BE49-F238E27FC236}">
                <a16:creationId xmlns:a16="http://schemas.microsoft.com/office/drawing/2014/main" id="{F46D5833-030C-7FDE-2668-D49064AD885C}"/>
              </a:ext>
            </a:extLst>
          </p:cNvPr>
          <p:cNvSpPr txBox="1"/>
          <p:nvPr/>
        </p:nvSpPr>
        <p:spPr>
          <a:xfrm>
            <a:off x="11497579" y="6476142"/>
            <a:ext cx="543739" cy="246221"/>
          </a:xfrm>
          <a:prstGeom prst="rect">
            <a:avLst/>
          </a:prstGeom>
          <a:noFill/>
        </p:spPr>
        <p:txBody>
          <a:bodyPr wrap="none" rtlCol="0">
            <a:spAutoFit/>
          </a:bodyPr>
          <a:lstStyle/>
          <a:p>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7 / 19</a:t>
            </a:r>
          </a:p>
        </p:txBody>
      </p:sp>
    </p:spTree>
    <p:extLst>
      <p:ext uri="{BB962C8B-B14F-4D97-AF65-F5344CB8AC3E}">
        <p14:creationId xmlns:p14="http://schemas.microsoft.com/office/powerpoint/2010/main" val="1229243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8CE1956-D52F-DD6F-7077-C19BFF25AA01}"/>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4CB7A19-F5B5-A903-F322-F4041C6939C5}"/>
              </a:ext>
            </a:extLst>
          </p:cNvPr>
          <p:cNvSpPr/>
          <p:nvPr/>
        </p:nvSpPr>
        <p:spPr>
          <a:xfrm>
            <a:off x="0" y="0"/>
            <a:ext cx="12478043" cy="16101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ED2B2EA-43B9-A64F-7B1D-71EF5ADDD053}"/>
              </a:ext>
            </a:extLst>
          </p:cNvPr>
          <p:cNvSpPr txBox="1"/>
          <p:nvPr/>
        </p:nvSpPr>
        <p:spPr>
          <a:xfrm>
            <a:off x="11497579" y="6476142"/>
            <a:ext cx="550151" cy="246221"/>
          </a:xfrm>
          <a:prstGeom prst="rect">
            <a:avLst/>
          </a:prstGeom>
          <a:noFill/>
        </p:spPr>
        <p:txBody>
          <a:bodyPr wrap="none" rtlCol="0">
            <a:spAutoFit/>
          </a:bodyPr>
          <a:lstStyle/>
          <a:p>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8 / 19</a:t>
            </a:r>
          </a:p>
        </p:txBody>
      </p:sp>
    </p:spTree>
    <p:extLst>
      <p:ext uri="{BB962C8B-B14F-4D97-AF65-F5344CB8AC3E}">
        <p14:creationId xmlns:p14="http://schemas.microsoft.com/office/powerpoint/2010/main" val="398030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019A0E1-13D1-0A44-B2BF-5B930590112E}"/>
            </a:ext>
          </a:extLst>
        </p:cNvPr>
        <p:cNvGrpSpPr/>
        <p:nvPr/>
      </p:nvGrpSpPr>
      <p:grpSpPr>
        <a:xfrm>
          <a:off x="0" y="0"/>
          <a:ext cx="0" cy="0"/>
          <a:chOff x="0" y="0"/>
          <a:chExt cx="0" cy="0"/>
        </a:xfrm>
      </p:grpSpPr>
      <p:sp>
        <p:nvSpPr>
          <p:cNvPr id="15" name="직사각형 14">
            <a:extLst>
              <a:ext uri="{FF2B5EF4-FFF2-40B4-BE49-F238E27FC236}">
                <a16:creationId xmlns:a16="http://schemas.microsoft.com/office/drawing/2014/main" id="{DDEDA513-77D5-B8E5-06BA-46E56B34F4B4}"/>
              </a:ext>
            </a:extLst>
          </p:cNvPr>
          <p:cNvSpPr/>
          <p:nvPr/>
        </p:nvSpPr>
        <p:spPr>
          <a:xfrm>
            <a:off x="1881808" y="5641560"/>
            <a:ext cx="12478043" cy="675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직사각형 1">
            <a:extLst>
              <a:ext uri="{FF2B5EF4-FFF2-40B4-BE49-F238E27FC236}">
                <a16:creationId xmlns:a16="http://schemas.microsoft.com/office/drawing/2014/main" id="{C6BB82CB-8084-1F45-F7F1-3692341B867B}"/>
              </a:ext>
            </a:extLst>
          </p:cNvPr>
          <p:cNvSpPr/>
          <p:nvPr/>
        </p:nvSpPr>
        <p:spPr>
          <a:xfrm>
            <a:off x="0" y="0"/>
            <a:ext cx="12478043" cy="675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A40A7467-3754-E54F-15FE-C70E34BCEBCC}"/>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EF65F98-A6A9-8683-0698-39DB8B42F60F}"/>
              </a:ext>
            </a:extLst>
          </p:cNvPr>
          <p:cNvSpPr txBox="1"/>
          <p:nvPr/>
        </p:nvSpPr>
        <p:spPr>
          <a:xfrm>
            <a:off x="0" y="913129"/>
            <a:ext cx="4545497" cy="400110"/>
          </a:xfrm>
          <a:prstGeom prst="rect">
            <a:avLst/>
          </a:prstGeom>
          <a:solidFill>
            <a:srgbClr val="2C3F59"/>
          </a:solidFill>
        </p:spPr>
        <p:txBody>
          <a:bodyPr wrap="square">
            <a:spAutoFit/>
          </a:bodyPr>
          <a:lstStyle/>
          <a:p>
            <a:r>
              <a:rPr lang="en-US" sz="2000" b="1" dirty="0">
                <a:solidFill>
                  <a:schemeClr val="bg1"/>
                </a:solidFill>
                <a:latin typeface="Gmarket Sans TTF Bold" panose="02000000000000000000" pitchFamily="2" charset="-128"/>
                <a:ea typeface="Gmarket Sans TTF Bold" panose="02000000000000000000" pitchFamily="2" charset="-128"/>
              </a:rPr>
              <a:t>Individual Workspace</a:t>
            </a:r>
          </a:p>
        </p:txBody>
      </p:sp>
      <p:sp>
        <p:nvSpPr>
          <p:cNvPr id="5" name="직사각형 4">
            <a:extLst>
              <a:ext uri="{FF2B5EF4-FFF2-40B4-BE49-F238E27FC236}">
                <a16:creationId xmlns:a16="http://schemas.microsoft.com/office/drawing/2014/main" id="{06B3294B-6745-D905-618D-BB5A928DBA15}"/>
              </a:ext>
            </a:extLst>
          </p:cNvPr>
          <p:cNvSpPr/>
          <p:nvPr/>
        </p:nvSpPr>
        <p:spPr>
          <a:xfrm>
            <a:off x="-3352799" y="2080592"/>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B467860-5E1D-D058-AFD0-331CA910F9B7}"/>
              </a:ext>
            </a:extLst>
          </p:cNvPr>
          <p:cNvSpPr txBox="1"/>
          <p:nvPr/>
        </p:nvSpPr>
        <p:spPr>
          <a:xfrm>
            <a:off x="0" y="540579"/>
            <a:ext cx="7921486" cy="307777"/>
          </a:xfrm>
          <a:prstGeom prst="rect">
            <a:avLst/>
          </a:prstGeom>
          <a:noFill/>
        </p:spPr>
        <p:txBody>
          <a:bodyPr wrap="square">
            <a:spAutoFit/>
          </a:bodyPr>
          <a:lstStyle/>
          <a:p>
            <a:r>
              <a:rPr lang="ko-KR" altLang="ko-KR" sz="1400" dirty="0" err="1">
                <a:solidFill>
                  <a:srgbClr val="2C3F59"/>
                </a:solidFill>
                <a:latin typeface="Gmarket Sans TTF Medium" panose="02000000000000000000" pitchFamily="2" charset="-128"/>
                <a:ea typeface="Gmarket Sans TTF Medium" panose="02000000000000000000" pitchFamily="2" charset="-128"/>
              </a:rPr>
              <a:t>Page-by-page</a:t>
            </a:r>
            <a:r>
              <a:rPr lang="ko-KR" altLang="ko-KR" sz="1400" dirty="0">
                <a:solidFill>
                  <a:srgbClr val="2C3F59"/>
                </a:solidFill>
                <a:latin typeface="Gmarket Sans TTF Medium" panose="02000000000000000000" pitchFamily="2" charset="-128"/>
                <a:ea typeface="Gmarket Sans TTF Medium" panose="02000000000000000000" pitchFamily="2" charset="-128"/>
              </a:rPr>
              <a:t> </a:t>
            </a:r>
            <a:r>
              <a:rPr lang="ko-KR" altLang="ko-KR" sz="1400" dirty="0" err="1">
                <a:solidFill>
                  <a:srgbClr val="2C3F59"/>
                </a:solidFill>
                <a:latin typeface="Gmarket Sans TTF Medium" panose="02000000000000000000" pitchFamily="2" charset="-128"/>
                <a:ea typeface="Gmarket Sans TTF Medium" panose="02000000000000000000" pitchFamily="2" charset="-128"/>
              </a:rPr>
              <a:t>functions</a:t>
            </a:r>
            <a:r>
              <a:rPr lang="ko-KR" altLang="en-US" sz="1400" dirty="0">
                <a:solidFill>
                  <a:srgbClr val="2C3F59"/>
                </a:solidFill>
                <a:latin typeface="Gmarket Sans TTF Medium" panose="02000000000000000000" pitchFamily="2" charset="-128"/>
                <a:ea typeface="Gmarket Sans TTF Medium" panose="02000000000000000000" pitchFamily="2" charset="-128"/>
              </a:rPr>
              <a:t> </a:t>
            </a:r>
            <a:r>
              <a:rPr lang="en-US" altLang="ko-KR" sz="1400" dirty="0">
                <a:solidFill>
                  <a:srgbClr val="2C3F59"/>
                </a:solidFill>
                <a:latin typeface="Gmarket Sans TTF Medium" panose="02000000000000000000" pitchFamily="2" charset="-128"/>
                <a:ea typeface="Gmarket Sans TTF Medium" panose="02000000000000000000" pitchFamily="2" charset="-128"/>
              </a:rPr>
              <a:t>#1</a:t>
            </a:r>
            <a:endParaRPr lang="en-US" sz="1400" dirty="0">
              <a:solidFill>
                <a:srgbClr val="2C3F59"/>
              </a:solidFill>
              <a:latin typeface="Gmarket Sans TTF Medium" panose="02000000000000000000" pitchFamily="2" charset="-128"/>
              <a:ea typeface="Gmarket Sans TTF Medium" panose="02000000000000000000" pitchFamily="2" charset="-128"/>
            </a:endParaRPr>
          </a:p>
        </p:txBody>
      </p:sp>
      <p:sp>
        <p:nvSpPr>
          <p:cNvPr id="9" name="TextBox 8">
            <a:extLst>
              <a:ext uri="{FF2B5EF4-FFF2-40B4-BE49-F238E27FC236}">
                <a16:creationId xmlns:a16="http://schemas.microsoft.com/office/drawing/2014/main" id="{F7BBAB52-D918-D3CD-5420-96EFADA3F4CD}"/>
              </a:ext>
            </a:extLst>
          </p:cNvPr>
          <p:cNvSpPr txBox="1"/>
          <p:nvPr/>
        </p:nvSpPr>
        <p:spPr>
          <a:xfrm>
            <a:off x="6500193" y="1651626"/>
            <a:ext cx="4385697" cy="461665"/>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Users can switch between Individual Mode and Collaboration Mode from the top toolbar.</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0" name="TextBox 9">
            <a:extLst>
              <a:ext uri="{FF2B5EF4-FFF2-40B4-BE49-F238E27FC236}">
                <a16:creationId xmlns:a16="http://schemas.microsoft.com/office/drawing/2014/main" id="{C11DF0FC-C403-F53E-6247-47B6C3F38A60}"/>
              </a:ext>
            </a:extLst>
          </p:cNvPr>
          <p:cNvSpPr txBox="1"/>
          <p:nvPr/>
        </p:nvSpPr>
        <p:spPr>
          <a:xfrm>
            <a:off x="6500192" y="1325974"/>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Individual &amp; Collaboration Modes</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1" name="TextBox 10">
            <a:extLst>
              <a:ext uri="{FF2B5EF4-FFF2-40B4-BE49-F238E27FC236}">
                <a16:creationId xmlns:a16="http://schemas.microsoft.com/office/drawing/2014/main" id="{38F90AFD-064C-CF75-A5EC-4B4A195EF1C6}"/>
              </a:ext>
            </a:extLst>
          </p:cNvPr>
          <p:cNvSpPr txBox="1"/>
          <p:nvPr/>
        </p:nvSpPr>
        <p:spPr>
          <a:xfrm>
            <a:off x="6679097" y="2620523"/>
            <a:ext cx="4385697" cy="646331"/>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This is the default mode, allowing users to perform mouse-based design tasks such as drawing shapes and inserting text.</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2" name="TextBox 11">
            <a:extLst>
              <a:ext uri="{FF2B5EF4-FFF2-40B4-BE49-F238E27FC236}">
                <a16:creationId xmlns:a16="http://schemas.microsoft.com/office/drawing/2014/main" id="{A8D8794D-E7E9-339F-D59D-0F4BDBD59058}"/>
              </a:ext>
            </a:extLst>
          </p:cNvPr>
          <p:cNvSpPr txBox="1"/>
          <p:nvPr/>
        </p:nvSpPr>
        <p:spPr>
          <a:xfrm>
            <a:off x="6659219" y="2242835"/>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Mouse Mode</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3" name="TextBox 12">
            <a:extLst>
              <a:ext uri="{FF2B5EF4-FFF2-40B4-BE49-F238E27FC236}">
                <a16:creationId xmlns:a16="http://schemas.microsoft.com/office/drawing/2014/main" id="{2235A13C-9730-4D26-5862-901A634F473A}"/>
              </a:ext>
            </a:extLst>
          </p:cNvPr>
          <p:cNvSpPr txBox="1"/>
          <p:nvPr/>
        </p:nvSpPr>
        <p:spPr>
          <a:xfrm>
            <a:off x="6897757" y="4002677"/>
            <a:ext cx="4385697" cy="2123658"/>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This mode allows users to work with a connected drawing tablet, digital pen, or other pen-based input device.</a:t>
            </a:r>
          </a:p>
          <a:p>
            <a:endParaRPr lang="en" sz="1200" dirty="0">
              <a:solidFill>
                <a:srgbClr val="002060"/>
              </a:solidFill>
              <a:latin typeface="Gmarket Sans TTF Medium" panose="02000000000000000000" pitchFamily="2" charset="-128"/>
              <a:ea typeface="Gmarket Sans TTF Medium" panose="02000000000000000000" pitchFamily="2" charset="-128"/>
            </a:endParaRPr>
          </a:p>
          <a:p>
            <a:r>
              <a:rPr lang="en-US" sz="1200" dirty="0">
                <a:solidFill>
                  <a:srgbClr val="002060"/>
                </a:solidFill>
                <a:latin typeface="Gmarket Sans TTF Medium" panose="02000000000000000000" pitchFamily="2" charset="-128"/>
                <a:ea typeface="Gmarket Sans TTF Medium" panose="02000000000000000000" pitchFamily="2" charset="-128"/>
              </a:rPr>
              <a:t>Since the efficiency of mouse and tablet input can vary depending on the design task, users can switch between input modes according to their needs.</a:t>
            </a:r>
          </a:p>
          <a:p>
            <a:endParaRPr lang="en-US" sz="1200" dirty="0">
              <a:solidFill>
                <a:srgbClr val="002060"/>
              </a:solidFill>
              <a:latin typeface="Gmarket Sans TTF Medium" panose="02000000000000000000" pitchFamily="2" charset="-128"/>
              <a:ea typeface="Gmarket Sans TTF Medium" panose="02000000000000000000" pitchFamily="2" charset="-128"/>
            </a:endParaRPr>
          </a:p>
          <a:p>
            <a:endParaRPr lang="en-US" sz="1200" dirty="0">
              <a:solidFill>
                <a:srgbClr val="002060"/>
              </a:solidFill>
              <a:latin typeface="Gmarket Sans TTF Medium" panose="02000000000000000000" pitchFamily="2" charset="-128"/>
              <a:ea typeface="Gmarket Sans TTF Medium" panose="02000000000000000000" pitchFamily="2" charset="-128"/>
            </a:endParaRPr>
          </a:p>
          <a:p>
            <a:r>
              <a:rPr lang="en-US" sz="1200" dirty="0">
                <a:solidFill>
                  <a:srgbClr val="002060"/>
                </a:solidFill>
                <a:latin typeface="Gmarket Sans TTF Medium" panose="02000000000000000000" pitchFamily="2" charset="-128"/>
                <a:ea typeface="Gmarket Sans TTF Medium" panose="02000000000000000000" pitchFamily="2" charset="-128"/>
              </a:rPr>
              <a:t>Unlike Mouse Mode, Pencil Mode displays a convenient color palette alongside the workspace.</a:t>
            </a:r>
          </a:p>
        </p:txBody>
      </p:sp>
      <p:sp>
        <p:nvSpPr>
          <p:cNvPr id="14" name="TextBox 13">
            <a:extLst>
              <a:ext uri="{FF2B5EF4-FFF2-40B4-BE49-F238E27FC236}">
                <a16:creationId xmlns:a16="http://schemas.microsoft.com/office/drawing/2014/main" id="{E46E2FE6-5F1D-8AE9-4F37-C007AFE254D2}"/>
              </a:ext>
            </a:extLst>
          </p:cNvPr>
          <p:cNvSpPr txBox="1"/>
          <p:nvPr/>
        </p:nvSpPr>
        <p:spPr>
          <a:xfrm>
            <a:off x="6877879" y="3624989"/>
            <a:ext cx="4385697" cy="307777"/>
          </a:xfrm>
          <a:prstGeom prst="rect">
            <a:avLst/>
          </a:prstGeom>
          <a:solidFill>
            <a:schemeClr val="bg1"/>
          </a:solidFill>
        </p:spPr>
        <p:txBody>
          <a:bodyPr wrap="square">
            <a:spAutoFit/>
          </a:bodyPr>
          <a:lstStyle/>
          <a:p>
            <a:r>
              <a:rPr lang="en-US" altLang="ko-KR" sz="1400" b="1" dirty="0">
                <a:solidFill>
                  <a:srgbClr val="002060"/>
                </a:solidFill>
                <a:latin typeface="Gmarket Sans TTF Bold" panose="02000000000000000000" pitchFamily="2" charset="-128"/>
                <a:ea typeface="Gmarket Sans TTF Bold" panose="02000000000000000000" pitchFamily="2" charset="-128"/>
              </a:rPr>
              <a:t>Pencil</a:t>
            </a:r>
            <a:r>
              <a:rPr lang="en" altLang="ko-KR" sz="1400" b="1" dirty="0">
                <a:solidFill>
                  <a:srgbClr val="002060"/>
                </a:solidFill>
                <a:latin typeface="Gmarket Sans TTF Bold" panose="02000000000000000000" pitchFamily="2" charset="-128"/>
                <a:ea typeface="Gmarket Sans TTF Bold" panose="02000000000000000000" pitchFamily="2" charset="-128"/>
              </a:rPr>
              <a:t> Mode</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6" name="TextBox 15">
            <a:extLst>
              <a:ext uri="{FF2B5EF4-FFF2-40B4-BE49-F238E27FC236}">
                <a16:creationId xmlns:a16="http://schemas.microsoft.com/office/drawing/2014/main" id="{EA382AD9-37A6-62E5-1E7B-0FFD49581AAF}"/>
              </a:ext>
            </a:extLst>
          </p:cNvPr>
          <p:cNvSpPr txBox="1"/>
          <p:nvPr/>
        </p:nvSpPr>
        <p:spPr>
          <a:xfrm>
            <a:off x="11497579" y="6476142"/>
            <a:ext cx="548548" cy="246221"/>
          </a:xfrm>
          <a:prstGeom prst="rect">
            <a:avLst/>
          </a:prstGeom>
          <a:noFill/>
        </p:spPr>
        <p:txBody>
          <a:bodyPr wrap="none" rtlCol="0">
            <a:spAutoFit/>
          </a:bodyPr>
          <a:lstStyle/>
          <a:p>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9 / 19</a:t>
            </a:r>
          </a:p>
        </p:txBody>
      </p:sp>
    </p:spTree>
    <p:extLst>
      <p:ext uri="{BB962C8B-B14F-4D97-AF65-F5344CB8AC3E}">
        <p14:creationId xmlns:p14="http://schemas.microsoft.com/office/powerpoint/2010/main" val="483628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3558328-23EC-BE21-642A-887488B56D71}"/>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535A328E-3D41-76F7-2CDA-1C193B7867DE}"/>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E155F9AF-712F-7001-C00D-B2BA9FDD1B26}"/>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직사각형 3">
            <a:extLst>
              <a:ext uri="{FF2B5EF4-FFF2-40B4-BE49-F238E27FC236}">
                <a16:creationId xmlns:a16="http://schemas.microsoft.com/office/drawing/2014/main" id="{2C21A10E-80B1-B6BE-B535-19DAB3E8043A}"/>
              </a:ext>
            </a:extLst>
          </p:cNvPr>
          <p:cNvSpPr/>
          <p:nvPr/>
        </p:nvSpPr>
        <p:spPr>
          <a:xfrm>
            <a:off x="-3392555" y="2080592"/>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AD0337B-63A7-90CF-1C5A-90915C60E889}"/>
              </a:ext>
            </a:extLst>
          </p:cNvPr>
          <p:cNvSpPr txBox="1"/>
          <p:nvPr/>
        </p:nvSpPr>
        <p:spPr>
          <a:xfrm>
            <a:off x="0" y="913129"/>
            <a:ext cx="4545497" cy="400110"/>
          </a:xfrm>
          <a:prstGeom prst="rect">
            <a:avLst/>
          </a:prstGeom>
          <a:solidFill>
            <a:srgbClr val="2C3F59"/>
          </a:solidFill>
        </p:spPr>
        <p:txBody>
          <a:bodyPr wrap="square">
            <a:spAutoFit/>
          </a:bodyPr>
          <a:lstStyle/>
          <a:p>
            <a:r>
              <a:rPr lang="en-US" sz="2000" b="1" dirty="0">
                <a:solidFill>
                  <a:schemeClr val="bg1"/>
                </a:solidFill>
                <a:latin typeface="Gmarket Sans TTF Bold" panose="02000000000000000000" pitchFamily="2" charset="-128"/>
                <a:ea typeface="Gmarket Sans TTF Bold" panose="02000000000000000000" pitchFamily="2" charset="-128"/>
              </a:rPr>
              <a:t>Group Workspace</a:t>
            </a:r>
          </a:p>
        </p:txBody>
      </p:sp>
      <p:sp>
        <p:nvSpPr>
          <p:cNvPr id="8" name="TextBox 7">
            <a:extLst>
              <a:ext uri="{FF2B5EF4-FFF2-40B4-BE49-F238E27FC236}">
                <a16:creationId xmlns:a16="http://schemas.microsoft.com/office/drawing/2014/main" id="{35657E3E-39E0-4739-4710-F0656CD31430}"/>
              </a:ext>
            </a:extLst>
          </p:cNvPr>
          <p:cNvSpPr txBox="1"/>
          <p:nvPr/>
        </p:nvSpPr>
        <p:spPr>
          <a:xfrm>
            <a:off x="0" y="540579"/>
            <a:ext cx="7921486" cy="307777"/>
          </a:xfrm>
          <a:prstGeom prst="rect">
            <a:avLst/>
          </a:prstGeom>
          <a:noFill/>
        </p:spPr>
        <p:txBody>
          <a:bodyPr wrap="square">
            <a:spAutoFit/>
          </a:bodyPr>
          <a:lstStyle/>
          <a:p>
            <a:r>
              <a:rPr lang="ko-KR" altLang="ko-KR" sz="1400" dirty="0" err="1">
                <a:solidFill>
                  <a:srgbClr val="2C3F59"/>
                </a:solidFill>
                <a:latin typeface="Gmarket Sans TTF Medium" panose="02000000000000000000" pitchFamily="2" charset="-128"/>
                <a:ea typeface="Gmarket Sans TTF Medium" panose="02000000000000000000" pitchFamily="2" charset="-128"/>
              </a:rPr>
              <a:t>Page-by-page</a:t>
            </a:r>
            <a:r>
              <a:rPr lang="ko-KR" altLang="ko-KR" sz="1400" dirty="0">
                <a:solidFill>
                  <a:srgbClr val="2C3F59"/>
                </a:solidFill>
                <a:latin typeface="Gmarket Sans TTF Medium" panose="02000000000000000000" pitchFamily="2" charset="-128"/>
                <a:ea typeface="Gmarket Sans TTF Medium" panose="02000000000000000000" pitchFamily="2" charset="-128"/>
              </a:rPr>
              <a:t> </a:t>
            </a:r>
            <a:r>
              <a:rPr lang="ko-KR" altLang="ko-KR" sz="1400" dirty="0" err="1">
                <a:solidFill>
                  <a:srgbClr val="2C3F59"/>
                </a:solidFill>
                <a:latin typeface="Gmarket Sans TTF Medium" panose="02000000000000000000" pitchFamily="2" charset="-128"/>
                <a:ea typeface="Gmarket Sans TTF Medium" panose="02000000000000000000" pitchFamily="2" charset="-128"/>
              </a:rPr>
              <a:t>functions</a:t>
            </a:r>
            <a:r>
              <a:rPr lang="ko-KR" altLang="en-US" sz="1400" dirty="0">
                <a:solidFill>
                  <a:srgbClr val="2C3F59"/>
                </a:solidFill>
                <a:latin typeface="Gmarket Sans TTF Medium" panose="02000000000000000000" pitchFamily="2" charset="-128"/>
                <a:ea typeface="Gmarket Sans TTF Medium" panose="02000000000000000000" pitchFamily="2" charset="-128"/>
              </a:rPr>
              <a:t> </a:t>
            </a:r>
            <a:r>
              <a:rPr lang="en-US" altLang="ko-KR" sz="1400" dirty="0">
                <a:solidFill>
                  <a:srgbClr val="2C3F59"/>
                </a:solidFill>
                <a:latin typeface="Gmarket Sans TTF Medium" panose="02000000000000000000" pitchFamily="2" charset="-128"/>
                <a:ea typeface="Gmarket Sans TTF Medium" panose="02000000000000000000" pitchFamily="2" charset="-128"/>
              </a:rPr>
              <a:t>#2</a:t>
            </a:r>
            <a:endParaRPr lang="en-US" sz="1400" dirty="0">
              <a:solidFill>
                <a:srgbClr val="2C3F59"/>
              </a:solidFill>
              <a:latin typeface="Gmarket Sans TTF Medium" panose="02000000000000000000" pitchFamily="2" charset="-128"/>
              <a:ea typeface="Gmarket Sans TTF Medium" panose="02000000000000000000" pitchFamily="2" charset="-128"/>
            </a:endParaRPr>
          </a:p>
        </p:txBody>
      </p:sp>
      <p:sp>
        <p:nvSpPr>
          <p:cNvPr id="9" name="TextBox 8">
            <a:extLst>
              <a:ext uri="{FF2B5EF4-FFF2-40B4-BE49-F238E27FC236}">
                <a16:creationId xmlns:a16="http://schemas.microsoft.com/office/drawing/2014/main" id="{9A61B6E3-510D-8EDE-F22D-AC242E2052BC}"/>
              </a:ext>
            </a:extLst>
          </p:cNvPr>
          <p:cNvSpPr txBox="1"/>
          <p:nvPr/>
        </p:nvSpPr>
        <p:spPr>
          <a:xfrm>
            <a:off x="6718854" y="2111369"/>
            <a:ext cx="4385697" cy="830997"/>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Clicking this button opens the Team Management page, where users can view detailed information about team members participating in the project and add or remove members.</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0" name="TextBox 9">
            <a:extLst>
              <a:ext uri="{FF2B5EF4-FFF2-40B4-BE49-F238E27FC236}">
                <a16:creationId xmlns:a16="http://schemas.microsoft.com/office/drawing/2014/main" id="{11667AF3-B784-CB10-E7FE-4E580B8DDF44}"/>
              </a:ext>
            </a:extLst>
          </p:cNvPr>
          <p:cNvSpPr txBox="1"/>
          <p:nvPr/>
        </p:nvSpPr>
        <p:spPr>
          <a:xfrm>
            <a:off x="6460434" y="1713181"/>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Team Management</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1" name="TextBox 10">
            <a:extLst>
              <a:ext uri="{FF2B5EF4-FFF2-40B4-BE49-F238E27FC236}">
                <a16:creationId xmlns:a16="http://schemas.microsoft.com/office/drawing/2014/main" id="{AC290195-4C4C-CDD5-A4E8-7584656DDE49}"/>
              </a:ext>
            </a:extLst>
          </p:cNvPr>
          <p:cNvSpPr txBox="1"/>
          <p:nvPr/>
        </p:nvSpPr>
        <p:spPr>
          <a:xfrm>
            <a:off x="6718854" y="3622117"/>
            <a:ext cx="4385697" cy="830997"/>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Users can see who is collaborating on the same project and identify which team members are currently active in the shared workspace in real time.</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2" name="TextBox 11">
            <a:extLst>
              <a:ext uri="{FF2B5EF4-FFF2-40B4-BE49-F238E27FC236}">
                <a16:creationId xmlns:a16="http://schemas.microsoft.com/office/drawing/2014/main" id="{5D854F2D-D06D-9CCE-13B9-9547001B7EC0}"/>
              </a:ext>
            </a:extLst>
          </p:cNvPr>
          <p:cNvSpPr txBox="1"/>
          <p:nvPr/>
        </p:nvSpPr>
        <p:spPr>
          <a:xfrm>
            <a:off x="6460434" y="3223929"/>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View Team Members</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3" name="TextBox 12">
            <a:extLst>
              <a:ext uri="{FF2B5EF4-FFF2-40B4-BE49-F238E27FC236}">
                <a16:creationId xmlns:a16="http://schemas.microsoft.com/office/drawing/2014/main" id="{859BEB4E-2308-9B4F-5C6D-48D1EF649FFB}"/>
              </a:ext>
            </a:extLst>
          </p:cNvPr>
          <p:cNvSpPr txBox="1"/>
          <p:nvPr/>
        </p:nvSpPr>
        <p:spPr>
          <a:xfrm>
            <a:off x="6718854" y="5252134"/>
            <a:ext cx="5049076" cy="1200329"/>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Users can see who is collaborating on the same project and identify which team members are currently active in the shared workspace in real time.</a:t>
            </a:r>
          </a:p>
          <a:p>
            <a:endParaRPr lang="en" altLang="ko-KR" sz="1200" dirty="0">
              <a:solidFill>
                <a:srgbClr val="002060"/>
              </a:solidFill>
              <a:latin typeface="Gmarket Sans TTF Medium" panose="02000000000000000000" pitchFamily="2" charset="-128"/>
              <a:ea typeface="Gmarket Sans TTF Medium" panose="02000000000000000000" pitchFamily="2" charset="-128"/>
            </a:endParaRPr>
          </a:p>
          <a:p>
            <a:r>
              <a:rPr lang="en" altLang="ko-KR" sz="1200" dirty="0">
                <a:solidFill>
                  <a:srgbClr val="002060"/>
                </a:solidFill>
                <a:latin typeface="Gmarket Sans TTF Medium" panose="02000000000000000000" pitchFamily="2" charset="-128"/>
                <a:ea typeface="Gmarket Sans TTF Medium" panose="02000000000000000000" pitchFamily="2" charset="-128"/>
              </a:rPr>
              <a:t>Users can close or hide feedback panels and reply directly to individual feedback messages.</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4" name="TextBox 13">
            <a:extLst>
              <a:ext uri="{FF2B5EF4-FFF2-40B4-BE49-F238E27FC236}">
                <a16:creationId xmlns:a16="http://schemas.microsoft.com/office/drawing/2014/main" id="{2C32151A-001E-6638-3E46-E32C831939CC}"/>
              </a:ext>
            </a:extLst>
          </p:cNvPr>
          <p:cNvSpPr txBox="1"/>
          <p:nvPr/>
        </p:nvSpPr>
        <p:spPr>
          <a:xfrm>
            <a:off x="6460434" y="4853946"/>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Feedback</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5" name="TextBox 14">
            <a:extLst>
              <a:ext uri="{FF2B5EF4-FFF2-40B4-BE49-F238E27FC236}">
                <a16:creationId xmlns:a16="http://schemas.microsoft.com/office/drawing/2014/main" id="{14F9219A-3F6B-B057-B919-9926E3DC2ED9}"/>
              </a:ext>
            </a:extLst>
          </p:cNvPr>
          <p:cNvSpPr txBox="1"/>
          <p:nvPr/>
        </p:nvSpPr>
        <p:spPr>
          <a:xfrm>
            <a:off x="11409414" y="6476142"/>
            <a:ext cx="611065" cy="246221"/>
          </a:xfrm>
          <a:prstGeom prst="rect">
            <a:avLst/>
          </a:prstGeom>
          <a:noFill/>
        </p:spPr>
        <p:txBody>
          <a:bodyPr wrap="none" rtlCol="0">
            <a:spAutoFit/>
          </a:bodyPr>
          <a:lstStyle/>
          <a:p>
            <a:pPr algn="r"/>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10 / 19</a:t>
            </a:r>
          </a:p>
        </p:txBody>
      </p:sp>
    </p:spTree>
    <p:extLst>
      <p:ext uri="{BB962C8B-B14F-4D97-AF65-F5344CB8AC3E}">
        <p14:creationId xmlns:p14="http://schemas.microsoft.com/office/powerpoint/2010/main" val="949306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92DDE13-149A-EAFB-A4A5-F0D965284A02}"/>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27BD0F98-4E95-B73F-B1D0-241ECA7D252A}"/>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611F5516-AA61-3101-8A36-2831AAB7CE4F}"/>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직사각형 3">
            <a:extLst>
              <a:ext uri="{FF2B5EF4-FFF2-40B4-BE49-F238E27FC236}">
                <a16:creationId xmlns:a16="http://schemas.microsoft.com/office/drawing/2014/main" id="{70A4A793-476B-5BFE-F23B-292BFCFC98B5}"/>
              </a:ext>
            </a:extLst>
          </p:cNvPr>
          <p:cNvSpPr/>
          <p:nvPr/>
        </p:nvSpPr>
        <p:spPr>
          <a:xfrm>
            <a:off x="-3213651" y="186193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E94E850-A639-749F-4E61-6F5E4C541B9D}"/>
              </a:ext>
            </a:extLst>
          </p:cNvPr>
          <p:cNvSpPr txBox="1"/>
          <p:nvPr/>
        </p:nvSpPr>
        <p:spPr>
          <a:xfrm>
            <a:off x="0" y="913129"/>
            <a:ext cx="4545497" cy="400110"/>
          </a:xfrm>
          <a:prstGeom prst="rect">
            <a:avLst/>
          </a:prstGeom>
          <a:solidFill>
            <a:srgbClr val="2C3F59"/>
          </a:solidFill>
        </p:spPr>
        <p:txBody>
          <a:bodyPr wrap="square">
            <a:spAutoFit/>
          </a:bodyPr>
          <a:lstStyle/>
          <a:p>
            <a:r>
              <a:rPr lang="en-US" sz="2000" b="1" dirty="0">
                <a:solidFill>
                  <a:schemeClr val="bg1"/>
                </a:solidFill>
                <a:latin typeface="Gmarket Sans TTF Bold" panose="02000000000000000000" pitchFamily="2" charset="-128"/>
                <a:ea typeface="Gmarket Sans TTF Bold" panose="02000000000000000000" pitchFamily="2" charset="-128"/>
              </a:rPr>
              <a:t>Team Management</a:t>
            </a:r>
          </a:p>
        </p:txBody>
      </p:sp>
      <p:sp>
        <p:nvSpPr>
          <p:cNvPr id="8" name="TextBox 7">
            <a:extLst>
              <a:ext uri="{FF2B5EF4-FFF2-40B4-BE49-F238E27FC236}">
                <a16:creationId xmlns:a16="http://schemas.microsoft.com/office/drawing/2014/main" id="{017F15AF-F410-9987-2515-820C75DA567C}"/>
              </a:ext>
            </a:extLst>
          </p:cNvPr>
          <p:cNvSpPr txBox="1"/>
          <p:nvPr/>
        </p:nvSpPr>
        <p:spPr>
          <a:xfrm>
            <a:off x="0" y="540579"/>
            <a:ext cx="7921486" cy="307777"/>
          </a:xfrm>
          <a:prstGeom prst="rect">
            <a:avLst/>
          </a:prstGeom>
          <a:noFill/>
        </p:spPr>
        <p:txBody>
          <a:bodyPr wrap="square">
            <a:spAutoFit/>
          </a:bodyPr>
          <a:lstStyle/>
          <a:p>
            <a:r>
              <a:rPr lang="ko-KR" altLang="ko-KR" sz="1400" dirty="0" err="1">
                <a:solidFill>
                  <a:srgbClr val="2C3F59"/>
                </a:solidFill>
                <a:latin typeface="Gmarket Sans TTF Medium" panose="02000000000000000000" pitchFamily="2" charset="-128"/>
                <a:ea typeface="Gmarket Sans TTF Medium" panose="02000000000000000000" pitchFamily="2" charset="-128"/>
              </a:rPr>
              <a:t>Page-by-page</a:t>
            </a:r>
            <a:r>
              <a:rPr lang="ko-KR" altLang="ko-KR" sz="1400" dirty="0">
                <a:solidFill>
                  <a:srgbClr val="2C3F59"/>
                </a:solidFill>
                <a:latin typeface="Gmarket Sans TTF Medium" panose="02000000000000000000" pitchFamily="2" charset="-128"/>
                <a:ea typeface="Gmarket Sans TTF Medium" panose="02000000000000000000" pitchFamily="2" charset="-128"/>
              </a:rPr>
              <a:t> </a:t>
            </a:r>
            <a:r>
              <a:rPr lang="ko-KR" altLang="ko-KR" sz="1400" dirty="0" err="1">
                <a:solidFill>
                  <a:srgbClr val="2C3F59"/>
                </a:solidFill>
                <a:latin typeface="Gmarket Sans TTF Medium" panose="02000000000000000000" pitchFamily="2" charset="-128"/>
                <a:ea typeface="Gmarket Sans TTF Medium" panose="02000000000000000000" pitchFamily="2" charset="-128"/>
              </a:rPr>
              <a:t>functions</a:t>
            </a:r>
            <a:r>
              <a:rPr lang="ko-KR" altLang="en-US" sz="1400" dirty="0">
                <a:solidFill>
                  <a:srgbClr val="2C3F59"/>
                </a:solidFill>
                <a:latin typeface="Gmarket Sans TTF Medium" panose="02000000000000000000" pitchFamily="2" charset="-128"/>
                <a:ea typeface="Gmarket Sans TTF Medium" panose="02000000000000000000" pitchFamily="2" charset="-128"/>
              </a:rPr>
              <a:t> </a:t>
            </a:r>
            <a:r>
              <a:rPr lang="en-US" altLang="ko-KR" sz="1400" dirty="0">
                <a:solidFill>
                  <a:srgbClr val="2C3F59"/>
                </a:solidFill>
                <a:latin typeface="Gmarket Sans TTF Medium" panose="02000000000000000000" pitchFamily="2" charset="-128"/>
                <a:ea typeface="Gmarket Sans TTF Medium" panose="02000000000000000000" pitchFamily="2" charset="-128"/>
              </a:rPr>
              <a:t>#3</a:t>
            </a:r>
            <a:endParaRPr lang="en-US" sz="1400" dirty="0">
              <a:solidFill>
                <a:srgbClr val="2C3F59"/>
              </a:solidFill>
              <a:latin typeface="Gmarket Sans TTF Medium" panose="02000000000000000000" pitchFamily="2" charset="-128"/>
              <a:ea typeface="Gmarket Sans TTF Medium" panose="02000000000000000000" pitchFamily="2" charset="-128"/>
            </a:endParaRPr>
          </a:p>
        </p:txBody>
      </p:sp>
      <p:sp>
        <p:nvSpPr>
          <p:cNvPr id="9" name="TextBox 8">
            <a:extLst>
              <a:ext uri="{FF2B5EF4-FFF2-40B4-BE49-F238E27FC236}">
                <a16:creationId xmlns:a16="http://schemas.microsoft.com/office/drawing/2014/main" id="{7D19B98C-0CF1-2740-E979-159425E8C71E}"/>
              </a:ext>
            </a:extLst>
          </p:cNvPr>
          <p:cNvSpPr txBox="1"/>
          <p:nvPr/>
        </p:nvSpPr>
        <p:spPr>
          <a:xfrm>
            <a:off x="2047464" y="2422363"/>
            <a:ext cx="3132866" cy="461665"/>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Team members can be added by entering their email addresses.</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0" name="TextBox 9">
            <a:extLst>
              <a:ext uri="{FF2B5EF4-FFF2-40B4-BE49-F238E27FC236}">
                <a16:creationId xmlns:a16="http://schemas.microsoft.com/office/drawing/2014/main" id="{048F776C-F113-136E-B605-31C40850761F}"/>
              </a:ext>
            </a:extLst>
          </p:cNvPr>
          <p:cNvSpPr txBox="1"/>
          <p:nvPr/>
        </p:nvSpPr>
        <p:spPr>
          <a:xfrm>
            <a:off x="4226172" y="1957480"/>
            <a:ext cx="1869828" cy="307777"/>
          </a:xfrm>
          <a:prstGeom prst="rect">
            <a:avLst/>
          </a:prstGeom>
          <a:solidFill>
            <a:schemeClr val="bg1"/>
          </a:solidFill>
        </p:spPr>
        <p:txBody>
          <a:bodyPr wrap="square">
            <a:spAutoFit/>
          </a:bodyPr>
          <a:lstStyle/>
          <a:p>
            <a:r>
              <a:rPr lang="en" sz="1400" b="1" dirty="0">
                <a:solidFill>
                  <a:srgbClr val="002060"/>
                </a:solidFill>
                <a:latin typeface="Gmarket Sans TTF Bold" panose="02000000000000000000" pitchFamily="2" charset="-128"/>
                <a:ea typeface="Gmarket Sans TTF Bold" panose="02000000000000000000" pitchFamily="2" charset="-128"/>
              </a:rPr>
              <a:t>Add Member</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1" name="TextBox 10">
            <a:extLst>
              <a:ext uri="{FF2B5EF4-FFF2-40B4-BE49-F238E27FC236}">
                <a16:creationId xmlns:a16="http://schemas.microsoft.com/office/drawing/2014/main" id="{50FE14DE-2A3C-8D23-E4A8-B5F5E54D8C50}"/>
              </a:ext>
            </a:extLst>
          </p:cNvPr>
          <p:cNvSpPr txBox="1"/>
          <p:nvPr/>
        </p:nvSpPr>
        <p:spPr>
          <a:xfrm>
            <a:off x="9594577" y="2653195"/>
            <a:ext cx="2451649" cy="646331"/>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Clicking the “Add” button opens an “Add Team Member” pop-up window.</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2" name="TextBox 11">
            <a:extLst>
              <a:ext uri="{FF2B5EF4-FFF2-40B4-BE49-F238E27FC236}">
                <a16:creationId xmlns:a16="http://schemas.microsoft.com/office/drawing/2014/main" id="{90DA87A8-8235-18F1-0B9E-7443EE5D4DEE}"/>
              </a:ext>
            </a:extLst>
          </p:cNvPr>
          <p:cNvSpPr txBox="1"/>
          <p:nvPr/>
        </p:nvSpPr>
        <p:spPr>
          <a:xfrm>
            <a:off x="9594577" y="4501874"/>
            <a:ext cx="2451649" cy="1200329"/>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Users can view detailed information about the team members participating in the design project, including their email addresses.</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3" name="TextBox 12">
            <a:extLst>
              <a:ext uri="{FF2B5EF4-FFF2-40B4-BE49-F238E27FC236}">
                <a16:creationId xmlns:a16="http://schemas.microsoft.com/office/drawing/2014/main" id="{2D7B102B-5F52-0743-345D-03D1FC0919F1}"/>
              </a:ext>
            </a:extLst>
          </p:cNvPr>
          <p:cNvSpPr txBox="1"/>
          <p:nvPr/>
        </p:nvSpPr>
        <p:spPr>
          <a:xfrm>
            <a:off x="11439871" y="6476142"/>
            <a:ext cx="580608" cy="246221"/>
          </a:xfrm>
          <a:prstGeom prst="rect">
            <a:avLst/>
          </a:prstGeom>
          <a:noFill/>
        </p:spPr>
        <p:txBody>
          <a:bodyPr wrap="none" rtlCol="0">
            <a:spAutoFit/>
          </a:bodyPr>
          <a:lstStyle/>
          <a:p>
            <a:pPr algn="r"/>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11 / 19</a:t>
            </a:r>
          </a:p>
        </p:txBody>
      </p:sp>
    </p:spTree>
    <p:extLst>
      <p:ext uri="{BB962C8B-B14F-4D97-AF65-F5344CB8AC3E}">
        <p14:creationId xmlns:p14="http://schemas.microsoft.com/office/powerpoint/2010/main" val="1883365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F0A6DFC-4B8D-BB9D-9F62-97E16A706CB7}"/>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2823C382-E6F7-2209-ED15-EEAC58DC6D68}"/>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16BC8925-ED5B-9E56-F714-EBD1B7D08F2A}"/>
              </a:ext>
            </a:extLst>
          </p:cNvPr>
          <p:cNvSpPr/>
          <p:nvPr/>
        </p:nvSpPr>
        <p:spPr>
          <a:xfrm>
            <a:off x="-821634" y="0"/>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직사각형 3">
            <a:extLst>
              <a:ext uri="{FF2B5EF4-FFF2-40B4-BE49-F238E27FC236}">
                <a16:creationId xmlns:a16="http://schemas.microsoft.com/office/drawing/2014/main" id="{A723625F-EFCF-C023-7A79-C68B87B2B2DF}"/>
              </a:ext>
            </a:extLst>
          </p:cNvPr>
          <p:cNvSpPr/>
          <p:nvPr/>
        </p:nvSpPr>
        <p:spPr>
          <a:xfrm>
            <a:off x="-2971800" y="987287"/>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49BE59B-9C7C-E76B-D319-B9FD0E81C966}"/>
              </a:ext>
            </a:extLst>
          </p:cNvPr>
          <p:cNvSpPr txBox="1"/>
          <p:nvPr/>
        </p:nvSpPr>
        <p:spPr>
          <a:xfrm>
            <a:off x="0" y="913129"/>
            <a:ext cx="4545497" cy="400110"/>
          </a:xfrm>
          <a:prstGeom prst="rect">
            <a:avLst/>
          </a:prstGeom>
          <a:solidFill>
            <a:srgbClr val="2C3F59"/>
          </a:solidFill>
        </p:spPr>
        <p:txBody>
          <a:bodyPr wrap="square">
            <a:spAutoFit/>
          </a:bodyPr>
          <a:lstStyle/>
          <a:p>
            <a:r>
              <a:rPr lang="en-US" sz="2000" b="1" dirty="0">
                <a:solidFill>
                  <a:schemeClr val="bg1"/>
                </a:solidFill>
                <a:latin typeface="Gmarket Sans TTF Bold" panose="02000000000000000000" pitchFamily="2" charset="-128"/>
                <a:ea typeface="Gmarket Sans TTF Bold" panose="02000000000000000000" pitchFamily="2" charset="-128"/>
              </a:rPr>
              <a:t>Search &amp; Share</a:t>
            </a:r>
          </a:p>
        </p:txBody>
      </p:sp>
      <p:sp>
        <p:nvSpPr>
          <p:cNvPr id="8" name="TextBox 7">
            <a:extLst>
              <a:ext uri="{FF2B5EF4-FFF2-40B4-BE49-F238E27FC236}">
                <a16:creationId xmlns:a16="http://schemas.microsoft.com/office/drawing/2014/main" id="{D69E8184-5F75-1670-E208-438611280C6F}"/>
              </a:ext>
            </a:extLst>
          </p:cNvPr>
          <p:cNvSpPr txBox="1"/>
          <p:nvPr/>
        </p:nvSpPr>
        <p:spPr>
          <a:xfrm>
            <a:off x="0" y="540579"/>
            <a:ext cx="7921486" cy="307777"/>
          </a:xfrm>
          <a:prstGeom prst="rect">
            <a:avLst/>
          </a:prstGeom>
          <a:noFill/>
        </p:spPr>
        <p:txBody>
          <a:bodyPr wrap="square">
            <a:spAutoFit/>
          </a:bodyPr>
          <a:lstStyle/>
          <a:p>
            <a:r>
              <a:rPr lang="ko-KR" altLang="ko-KR" sz="1400" dirty="0" err="1">
                <a:solidFill>
                  <a:srgbClr val="2C3F59"/>
                </a:solidFill>
                <a:latin typeface="Gmarket Sans TTF Medium" panose="02000000000000000000" pitchFamily="2" charset="-128"/>
                <a:ea typeface="Gmarket Sans TTF Medium" panose="02000000000000000000" pitchFamily="2" charset="-128"/>
              </a:rPr>
              <a:t>Page-by-page</a:t>
            </a:r>
            <a:r>
              <a:rPr lang="ko-KR" altLang="ko-KR" sz="1400" dirty="0">
                <a:solidFill>
                  <a:srgbClr val="2C3F59"/>
                </a:solidFill>
                <a:latin typeface="Gmarket Sans TTF Medium" panose="02000000000000000000" pitchFamily="2" charset="-128"/>
                <a:ea typeface="Gmarket Sans TTF Medium" panose="02000000000000000000" pitchFamily="2" charset="-128"/>
              </a:rPr>
              <a:t> </a:t>
            </a:r>
            <a:r>
              <a:rPr lang="ko-KR" altLang="ko-KR" sz="1400" dirty="0" err="1">
                <a:solidFill>
                  <a:srgbClr val="2C3F59"/>
                </a:solidFill>
                <a:latin typeface="Gmarket Sans TTF Medium" panose="02000000000000000000" pitchFamily="2" charset="-128"/>
                <a:ea typeface="Gmarket Sans TTF Medium" panose="02000000000000000000" pitchFamily="2" charset="-128"/>
              </a:rPr>
              <a:t>functions</a:t>
            </a:r>
            <a:r>
              <a:rPr lang="ko-KR" altLang="en-US" sz="1400" dirty="0">
                <a:solidFill>
                  <a:srgbClr val="2C3F59"/>
                </a:solidFill>
                <a:latin typeface="Gmarket Sans TTF Medium" panose="02000000000000000000" pitchFamily="2" charset="-128"/>
                <a:ea typeface="Gmarket Sans TTF Medium" panose="02000000000000000000" pitchFamily="2" charset="-128"/>
              </a:rPr>
              <a:t> </a:t>
            </a:r>
            <a:r>
              <a:rPr lang="en-US" altLang="ko-KR" sz="1400" dirty="0">
                <a:solidFill>
                  <a:srgbClr val="2C3F59"/>
                </a:solidFill>
                <a:latin typeface="Gmarket Sans TTF Medium" panose="02000000000000000000" pitchFamily="2" charset="-128"/>
                <a:ea typeface="Gmarket Sans TTF Medium" panose="02000000000000000000" pitchFamily="2" charset="-128"/>
              </a:rPr>
              <a:t>#4</a:t>
            </a:r>
            <a:endParaRPr lang="en-US" sz="1400" dirty="0">
              <a:solidFill>
                <a:srgbClr val="2C3F59"/>
              </a:solidFill>
              <a:latin typeface="Gmarket Sans TTF Medium" panose="02000000000000000000" pitchFamily="2" charset="-128"/>
              <a:ea typeface="Gmarket Sans TTF Medium" panose="02000000000000000000" pitchFamily="2" charset="-128"/>
            </a:endParaRPr>
          </a:p>
        </p:txBody>
      </p:sp>
      <p:sp>
        <p:nvSpPr>
          <p:cNvPr id="9" name="TextBox 8">
            <a:extLst>
              <a:ext uri="{FF2B5EF4-FFF2-40B4-BE49-F238E27FC236}">
                <a16:creationId xmlns:a16="http://schemas.microsoft.com/office/drawing/2014/main" id="{A8B7E65E-B4EE-0407-2DBD-8FAE4B4CEDD3}"/>
              </a:ext>
            </a:extLst>
          </p:cNvPr>
          <p:cNvSpPr txBox="1"/>
          <p:nvPr/>
        </p:nvSpPr>
        <p:spPr>
          <a:xfrm>
            <a:off x="788503" y="1654195"/>
            <a:ext cx="9448801" cy="646331"/>
          </a:xfrm>
          <a:prstGeom prst="rect">
            <a:avLst/>
          </a:prstGeom>
          <a:solidFill>
            <a:schemeClr val="bg1"/>
          </a:solidFill>
        </p:spPr>
        <p:txBody>
          <a:bodyPr wrap="square">
            <a:spAutoFit/>
          </a:bodyPr>
          <a:lstStyle/>
          <a:p>
            <a:pPr marL="171450" indent="-171450">
              <a:buFont typeface="Arial" panose="020B0604020202020204" pitchFamily="34" charset="0"/>
              <a:buChar char="•"/>
            </a:pPr>
            <a:r>
              <a:rPr lang="en" altLang="ko-KR" sz="1200" dirty="0">
                <a:solidFill>
                  <a:srgbClr val="002060"/>
                </a:solidFill>
                <a:latin typeface="Gmarket Sans TTF Medium" panose="02000000000000000000" pitchFamily="2" charset="-128"/>
                <a:ea typeface="Gmarket Sans TTF Medium" panose="02000000000000000000" pitchFamily="2" charset="-128"/>
              </a:rPr>
              <a:t>Users can search for and share design methods and examples by design type, visual style, or function.</a:t>
            </a:r>
          </a:p>
          <a:p>
            <a:pPr marL="171450" indent="-171450">
              <a:buFont typeface="Arial" panose="020B0604020202020204" pitchFamily="34" charset="0"/>
              <a:buChar char="•"/>
            </a:pPr>
            <a:r>
              <a:rPr lang="en" altLang="ko-KR" sz="1200" dirty="0">
                <a:solidFill>
                  <a:srgbClr val="002060"/>
                </a:solidFill>
                <a:latin typeface="Gmarket Sans TTF Medium" panose="02000000000000000000" pitchFamily="2" charset="-128"/>
                <a:ea typeface="Gmarket Sans TTF Medium" panose="02000000000000000000" pitchFamily="2" charset="-128"/>
              </a:rPr>
              <a:t>The image search feature allows users to search for visual references based on elements such as colors or functions. Similar works uploaded by other users are displayed as references for further exploration.</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0" name="TextBox 9">
            <a:extLst>
              <a:ext uri="{FF2B5EF4-FFF2-40B4-BE49-F238E27FC236}">
                <a16:creationId xmlns:a16="http://schemas.microsoft.com/office/drawing/2014/main" id="{8F4263C7-4D9C-24F2-8EAE-E9DED857A840}"/>
              </a:ext>
            </a:extLst>
          </p:cNvPr>
          <p:cNvSpPr txBox="1"/>
          <p:nvPr/>
        </p:nvSpPr>
        <p:spPr>
          <a:xfrm>
            <a:off x="11414223" y="6476142"/>
            <a:ext cx="606256" cy="246221"/>
          </a:xfrm>
          <a:prstGeom prst="rect">
            <a:avLst/>
          </a:prstGeom>
          <a:noFill/>
        </p:spPr>
        <p:txBody>
          <a:bodyPr wrap="none" rtlCol="0">
            <a:spAutoFit/>
          </a:bodyPr>
          <a:lstStyle/>
          <a:p>
            <a:pPr algn="r"/>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12 / 19</a:t>
            </a:r>
          </a:p>
        </p:txBody>
      </p:sp>
    </p:spTree>
    <p:extLst>
      <p:ext uri="{BB962C8B-B14F-4D97-AF65-F5344CB8AC3E}">
        <p14:creationId xmlns:p14="http://schemas.microsoft.com/office/powerpoint/2010/main" val="1812900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5BB4EA6-B5E9-FC3F-C50C-88B50AD42304}"/>
            </a:ext>
          </a:extLst>
        </p:cNvPr>
        <p:cNvGrpSpPr/>
        <p:nvPr/>
      </p:nvGrpSpPr>
      <p:grpSpPr>
        <a:xfrm>
          <a:off x="0" y="0"/>
          <a:ext cx="0" cy="0"/>
          <a:chOff x="0" y="0"/>
          <a:chExt cx="0" cy="0"/>
        </a:xfrm>
      </p:grpSpPr>
      <p:sp>
        <p:nvSpPr>
          <p:cNvPr id="10" name="직사각형 9">
            <a:extLst>
              <a:ext uri="{FF2B5EF4-FFF2-40B4-BE49-F238E27FC236}">
                <a16:creationId xmlns:a16="http://schemas.microsoft.com/office/drawing/2014/main" id="{0A0CA9DE-213F-6444-5482-BC8B835DE3E6}"/>
              </a:ext>
            </a:extLst>
          </p:cNvPr>
          <p:cNvSpPr/>
          <p:nvPr/>
        </p:nvSpPr>
        <p:spPr>
          <a:xfrm>
            <a:off x="-37863" y="1981201"/>
            <a:ext cx="4571226" cy="48130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직사각형 8">
            <a:extLst>
              <a:ext uri="{FF2B5EF4-FFF2-40B4-BE49-F238E27FC236}">
                <a16:creationId xmlns:a16="http://schemas.microsoft.com/office/drawing/2014/main" id="{BA50D7E0-9986-1FE0-9344-A87C5ECDD604}"/>
              </a:ext>
            </a:extLst>
          </p:cNvPr>
          <p:cNvSpPr/>
          <p:nvPr/>
        </p:nvSpPr>
        <p:spPr>
          <a:xfrm>
            <a:off x="8092346" y="1981201"/>
            <a:ext cx="4571226" cy="48130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직사각형 1">
            <a:extLst>
              <a:ext uri="{FF2B5EF4-FFF2-40B4-BE49-F238E27FC236}">
                <a16:creationId xmlns:a16="http://schemas.microsoft.com/office/drawing/2014/main" id="{2AA7F8ED-99A8-78F4-8635-22B0E2E72431}"/>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51F41948-1D10-B91A-EE88-4ED3FCA98857}"/>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직사각형 3">
            <a:extLst>
              <a:ext uri="{FF2B5EF4-FFF2-40B4-BE49-F238E27FC236}">
                <a16:creationId xmlns:a16="http://schemas.microsoft.com/office/drawing/2014/main" id="{0C71096C-07BD-B67E-0B0D-435DB22D5D27}"/>
              </a:ext>
            </a:extLst>
          </p:cNvPr>
          <p:cNvSpPr/>
          <p:nvPr/>
        </p:nvSpPr>
        <p:spPr>
          <a:xfrm>
            <a:off x="-3253407" y="1702905"/>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6C1B8D0-0C1C-FDAE-711C-7566ED128747}"/>
              </a:ext>
            </a:extLst>
          </p:cNvPr>
          <p:cNvSpPr txBox="1"/>
          <p:nvPr/>
        </p:nvSpPr>
        <p:spPr>
          <a:xfrm>
            <a:off x="0" y="1581091"/>
            <a:ext cx="4545497" cy="400110"/>
          </a:xfrm>
          <a:prstGeom prst="rect">
            <a:avLst/>
          </a:prstGeom>
          <a:solidFill>
            <a:srgbClr val="2C3F59"/>
          </a:solidFill>
        </p:spPr>
        <p:txBody>
          <a:bodyPr wrap="square">
            <a:spAutoFit/>
          </a:bodyPr>
          <a:lstStyle/>
          <a:p>
            <a:r>
              <a:rPr lang="en-US" sz="2000" b="1" dirty="0">
                <a:solidFill>
                  <a:schemeClr val="bg1"/>
                </a:solidFill>
                <a:latin typeface="Gmarket Sans TTF Bold" panose="02000000000000000000" pitchFamily="2" charset="-128"/>
                <a:ea typeface="Gmarket Sans TTF Bold" panose="02000000000000000000" pitchFamily="2" charset="-128"/>
              </a:rPr>
              <a:t>Primary Icon GUI</a:t>
            </a:r>
          </a:p>
        </p:txBody>
      </p:sp>
      <p:sp>
        <p:nvSpPr>
          <p:cNvPr id="7" name="TextBox 6">
            <a:extLst>
              <a:ext uri="{FF2B5EF4-FFF2-40B4-BE49-F238E27FC236}">
                <a16:creationId xmlns:a16="http://schemas.microsoft.com/office/drawing/2014/main" id="{D47A0A05-A942-751D-B727-1E2C9512E0CB}"/>
              </a:ext>
            </a:extLst>
          </p:cNvPr>
          <p:cNvSpPr txBox="1"/>
          <p:nvPr/>
        </p:nvSpPr>
        <p:spPr>
          <a:xfrm>
            <a:off x="8092347" y="2696819"/>
            <a:ext cx="3914124" cy="646331"/>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Broadcast announcements to all team members in the design space by displaying a message directly within their workspaces.</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8" name="TextBox 7">
            <a:extLst>
              <a:ext uri="{FF2B5EF4-FFF2-40B4-BE49-F238E27FC236}">
                <a16:creationId xmlns:a16="http://schemas.microsoft.com/office/drawing/2014/main" id="{8C263E0A-D6CE-0DE0-23FE-BC4F71CDA200}"/>
              </a:ext>
            </a:extLst>
          </p:cNvPr>
          <p:cNvSpPr txBox="1"/>
          <p:nvPr/>
        </p:nvSpPr>
        <p:spPr>
          <a:xfrm>
            <a:off x="8092346" y="2389042"/>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Broadcast</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1" name="TextBox 10">
            <a:extLst>
              <a:ext uri="{FF2B5EF4-FFF2-40B4-BE49-F238E27FC236}">
                <a16:creationId xmlns:a16="http://schemas.microsoft.com/office/drawing/2014/main" id="{6D2FB370-5DD0-E3B7-FF8A-378DF6CC7CD9}"/>
              </a:ext>
            </a:extLst>
          </p:cNvPr>
          <p:cNvSpPr txBox="1"/>
          <p:nvPr/>
        </p:nvSpPr>
        <p:spPr>
          <a:xfrm>
            <a:off x="8092347" y="4068419"/>
            <a:ext cx="3914124" cy="1015663"/>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This feature enables users to exchange feedback and collaborate without having to switch back and forth between the design workspace and external messaging applications.</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2" name="TextBox 11">
            <a:extLst>
              <a:ext uri="{FF2B5EF4-FFF2-40B4-BE49-F238E27FC236}">
                <a16:creationId xmlns:a16="http://schemas.microsoft.com/office/drawing/2014/main" id="{24CE723D-8775-E318-A384-358E7B503D7C}"/>
              </a:ext>
            </a:extLst>
          </p:cNvPr>
          <p:cNvSpPr txBox="1"/>
          <p:nvPr/>
        </p:nvSpPr>
        <p:spPr>
          <a:xfrm>
            <a:off x="8092346" y="3760642"/>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Communication</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3" name="TextBox 12">
            <a:extLst>
              <a:ext uri="{FF2B5EF4-FFF2-40B4-BE49-F238E27FC236}">
                <a16:creationId xmlns:a16="http://schemas.microsoft.com/office/drawing/2014/main" id="{08A34506-0D00-2915-58E6-A1A405CEE675}"/>
              </a:ext>
            </a:extLst>
          </p:cNvPr>
          <p:cNvSpPr txBox="1"/>
          <p:nvPr/>
        </p:nvSpPr>
        <p:spPr>
          <a:xfrm>
            <a:off x="8092347" y="5479776"/>
            <a:ext cx="3914124" cy="1015663"/>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This feature enables users to exchange feedback and collaborate without having to switch back and forth between the design workspace and external messaging applications.</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4" name="TextBox 13">
            <a:extLst>
              <a:ext uri="{FF2B5EF4-FFF2-40B4-BE49-F238E27FC236}">
                <a16:creationId xmlns:a16="http://schemas.microsoft.com/office/drawing/2014/main" id="{ACCB906D-31EE-5EBF-7989-13D61650C1B7}"/>
              </a:ext>
            </a:extLst>
          </p:cNvPr>
          <p:cNvSpPr txBox="1"/>
          <p:nvPr/>
        </p:nvSpPr>
        <p:spPr>
          <a:xfrm>
            <a:off x="8092346" y="5171999"/>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Timeline</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5" name="TextBox 14">
            <a:extLst>
              <a:ext uri="{FF2B5EF4-FFF2-40B4-BE49-F238E27FC236}">
                <a16:creationId xmlns:a16="http://schemas.microsoft.com/office/drawing/2014/main" id="{B4646708-64FB-3F65-363F-6BCA8247F3BE}"/>
              </a:ext>
            </a:extLst>
          </p:cNvPr>
          <p:cNvSpPr txBox="1"/>
          <p:nvPr/>
        </p:nvSpPr>
        <p:spPr>
          <a:xfrm>
            <a:off x="598243" y="2696819"/>
            <a:ext cx="3914124" cy="461665"/>
          </a:xfrm>
          <a:prstGeom prst="rect">
            <a:avLst/>
          </a:prstGeom>
          <a:solidFill>
            <a:schemeClr val="bg1"/>
          </a:solidFill>
        </p:spPr>
        <p:txBody>
          <a:bodyPr wrap="square">
            <a:spAutoFit/>
          </a:bodyPr>
          <a:lstStyle/>
          <a:p>
            <a:pPr algn="r"/>
            <a:r>
              <a:rPr lang="en" altLang="ko-KR" sz="1200" dirty="0">
                <a:solidFill>
                  <a:srgbClr val="002060"/>
                </a:solidFill>
                <a:latin typeface="Gmarket Sans TTF Medium" panose="02000000000000000000" pitchFamily="2" charset="-128"/>
                <a:ea typeface="Gmarket Sans TTF Medium" panose="02000000000000000000" pitchFamily="2" charset="-128"/>
              </a:rPr>
              <a:t>Save design projects</a:t>
            </a:r>
          </a:p>
          <a:p>
            <a:pPr algn="r"/>
            <a:r>
              <a:rPr lang="en" altLang="ko-KR" sz="1200" dirty="0">
                <a:solidFill>
                  <a:srgbClr val="002060"/>
                </a:solidFill>
                <a:latin typeface="Gmarket Sans TTF Medium" panose="02000000000000000000" pitchFamily="2" charset="-128"/>
                <a:ea typeface="Gmarket Sans TTF Medium" panose="02000000000000000000" pitchFamily="2" charset="-128"/>
              </a:rPr>
              <a:t> to the web platform's cloud storage.</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6" name="TextBox 15">
            <a:extLst>
              <a:ext uri="{FF2B5EF4-FFF2-40B4-BE49-F238E27FC236}">
                <a16:creationId xmlns:a16="http://schemas.microsoft.com/office/drawing/2014/main" id="{E8F0C39D-223B-1DA1-2B92-33B5C0227CC3}"/>
              </a:ext>
            </a:extLst>
          </p:cNvPr>
          <p:cNvSpPr txBox="1"/>
          <p:nvPr/>
        </p:nvSpPr>
        <p:spPr>
          <a:xfrm>
            <a:off x="83987" y="2389042"/>
            <a:ext cx="4385697" cy="307777"/>
          </a:xfrm>
          <a:prstGeom prst="rect">
            <a:avLst/>
          </a:prstGeom>
          <a:solidFill>
            <a:schemeClr val="bg1"/>
          </a:solidFill>
        </p:spPr>
        <p:txBody>
          <a:bodyPr wrap="square">
            <a:spAutoFit/>
          </a:bodyPr>
          <a:lstStyle/>
          <a:p>
            <a:pPr algn="r"/>
            <a:r>
              <a:rPr lang="en" altLang="ko-KR" sz="1400" b="1" dirty="0">
                <a:solidFill>
                  <a:srgbClr val="002060"/>
                </a:solidFill>
                <a:latin typeface="Gmarket Sans TTF Bold" panose="02000000000000000000" pitchFamily="2" charset="-128"/>
                <a:ea typeface="Gmarket Sans TTF Bold" panose="02000000000000000000" pitchFamily="2" charset="-128"/>
              </a:rPr>
              <a:t>Save</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7" name="TextBox 16">
            <a:extLst>
              <a:ext uri="{FF2B5EF4-FFF2-40B4-BE49-F238E27FC236}">
                <a16:creationId xmlns:a16="http://schemas.microsoft.com/office/drawing/2014/main" id="{A1710F4E-4D44-D74F-9F36-0A2458DFAD2F}"/>
              </a:ext>
            </a:extLst>
          </p:cNvPr>
          <p:cNvSpPr txBox="1"/>
          <p:nvPr/>
        </p:nvSpPr>
        <p:spPr>
          <a:xfrm>
            <a:off x="598243" y="4068419"/>
            <a:ext cx="3914124" cy="461665"/>
          </a:xfrm>
          <a:prstGeom prst="rect">
            <a:avLst/>
          </a:prstGeom>
          <a:solidFill>
            <a:schemeClr val="bg1"/>
          </a:solidFill>
        </p:spPr>
        <p:txBody>
          <a:bodyPr wrap="square">
            <a:spAutoFit/>
          </a:bodyPr>
          <a:lstStyle/>
          <a:p>
            <a:pPr algn="r"/>
            <a:r>
              <a:rPr lang="en" altLang="ko-KR" sz="1200" dirty="0">
                <a:solidFill>
                  <a:srgbClr val="002060"/>
                </a:solidFill>
                <a:latin typeface="Gmarket Sans TTF Medium" panose="02000000000000000000" pitchFamily="2" charset="-128"/>
                <a:ea typeface="Gmarket Sans TTF Medium" panose="02000000000000000000" pitchFamily="2" charset="-128"/>
              </a:rPr>
              <a:t>Download design projects in various formats, including PDF, PNG, JPG, and PPT.</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8" name="TextBox 17">
            <a:extLst>
              <a:ext uri="{FF2B5EF4-FFF2-40B4-BE49-F238E27FC236}">
                <a16:creationId xmlns:a16="http://schemas.microsoft.com/office/drawing/2014/main" id="{0991ADE7-4CD5-3995-E6B7-48B7FA5F9836}"/>
              </a:ext>
            </a:extLst>
          </p:cNvPr>
          <p:cNvSpPr txBox="1"/>
          <p:nvPr/>
        </p:nvSpPr>
        <p:spPr>
          <a:xfrm>
            <a:off x="83987" y="3760642"/>
            <a:ext cx="4385697" cy="307777"/>
          </a:xfrm>
          <a:prstGeom prst="rect">
            <a:avLst/>
          </a:prstGeom>
          <a:solidFill>
            <a:schemeClr val="bg1"/>
          </a:solidFill>
        </p:spPr>
        <p:txBody>
          <a:bodyPr wrap="square">
            <a:spAutoFit/>
          </a:bodyPr>
          <a:lstStyle/>
          <a:p>
            <a:pPr algn="r"/>
            <a:r>
              <a:rPr lang="en" altLang="ko-KR" sz="1400" b="1" dirty="0">
                <a:solidFill>
                  <a:srgbClr val="002060"/>
                </a:solidFill>
                <a:latin typeface="Gmarket Sans TTF Bold" panose="02000000000000000000" pitchFamily="2" charset="-128"/>
                <a:ea typeface="Gmarket Sans TTF Bold" panose="02000000000000000000" pitchFamily="2" charset="-128"/>
              </a:rPr>
              <a:t>Download</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9" name="TextBox 18">
            <a:extLst>
              <a:ext uri="{FF2B5EF4-FFF2-40B4-BE49-F238E27FC236}">
                <a16:creationId xmlns:a16="http://schemas.microsoft.com/office/drawing/2014/main" id="{24430C60-F863-DAB4-7E61-E673C80ABA65}"/>
              </a:ext>
            </a:extLst>
          </p:cNvPr>
          <p:cNvSpPr txBox="1"/>
          <p:nvPr/>
        </p:nvSpPr>
        <p:spPr>
          <a:xfrm>
            <a:off x="598243" y="5479776"/>
            <a:ext cx="3914124" cy="461665"/>
          </a:xfrm>
          <a:prstGeom prst="rect">
            <a:avLst/>
          </a:prstGeom>
          <a:solidFill>
            <a:schemeClr val="bg1"/>
          </a:solidFill>
        </p:spPr>
        <p:txBody>
          <a:bodyPr wrap="square">
            <a:spAutoFit/>
          </a:bodyPr>
          <a:lstStyle/>
          <a:p>
            <a:pPr algn="r"/>
            <a:r>
              <a:rPr lang="en" altLang="ko-KR" sz="1200" dirty="0">
                <a:solidFill>
                  <a:srgbClr val="002060"/>
                </a:solidFill>
                <a:latin typeface="Gmarket Sans TTF Medium" panose="02000000000000000000" pitchFamily="2" charset="-128"/>
                <a:ea typeface="Gmarket Sans TTF Medium" panose="02000000000000000000" pitchFamily="2" charset="-128"/>
              </a:rPr>
              <a:t>Save multiple versions of design projects and manage workspace storage.</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20" name="TextBox 19">
            <a:extLst>
              <a:ext uri="{FF2B5EF4-FFF2-40B4-BE49-F238E27FC236}">
                <a16:creationId xmlns:a16="http://schemas.microsoft.com/office/drawing/2014/main" id="{5F155625-0F02-D1CB-A0A3-C71D30A43FFD}"/>
              </a:ext>
            </a:extLst>
          </p:cNvPr>
          <p:cNvSpPr txBox="1"/>
          <p:nvPr/>
        </p:nvSpPr>
        <p:spPr>
          <a:xfrm>
            <a:off x="83987" y="5171999"/>
            <a:ext cx="4385697" cy="307777"/>
          </a:xfrm>
          <a:prstGeom prst="rect">
            <a:avLst/>
          </a:prstGeom>
          <a:solidFill>
            <a:schemeClr val="bg1"/>
          </a:solidFill>
        </p:spPr>
        <p:txBody>
          <a:bodyPr wrap="square">
            <a:spAutoFit/>
          </a:bodyPr>
          <a:lstStyle/>
          <a:p>
            <a:pPr algn="r"/>
            <a:r>
              <a:rPr lang="en" altLang="ko-KR" sz="1400" b="1" dirty="0">
                <a:solidFill>
                  <a:srgbClr val="002060"/>
                </a:solidFill>
                <a:latin typeface="Gmarket Sans TTF Bold" panose="02000000000000000000" pitchFamily="2" charset="-128"/>
                <a:ea typeface="Gmarket Sans TTF Bold" panose="02000000000000000000" pitchFamily="2" charset="-128"/>
              </a:rPr>
              <a:t>Workspace Management</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21" name="TextBox 20">
            <a:extLst>
              <a:ext uri="{FF2B5EF4-FFF2-40B4-BE49-F238E27FC236}">
                <a16:creationId xmlns:a16="http://schemas.microsoft.com/office/drawing/2014/main" id="{39D5EFF6-D74A-BBFD-7CF3-695AB525B066}"/>
              </a:ext>
            </a:extLst>
          </p:cNvPr>
          <p:cNvSpPr txBox="1"/>
          <p:nvPr/>
        </p:nvSpPr>
        <p:spPr>
          <a:xfrm>
            <a:off x="495946" y="697488"/>
            <a:ext cx="2908168"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Features by Interface</a:t>
            </a:r>
          </a:p>
        </p:txBody>
      </p:sp>
      <p:sp>
        <p:nvSpPr>
          <p:cNvPr id="22" name="TextBox 21">
            <a:extLst>
              <a:ext uri="{FF2B5EF4-FFF2-40B4-BE49-F238E27FC236}">
                <a16:creationId xmlns:a16="http://schemas.microsoft.com/office/drawing/2014/main" id="{FE115D92-80F9-7B34-1745-BC42DDB65B60}"/>
              </a:ext>
            </a:extLst>
          </p:cNvPr>
          <p:cNvSpPr txBox="1"/>
          <p:nvPr/>
        </p:nvSpPr>
        <p:spPr>
          <a:xfrm>
            <a:off x="11412620" y="6476142"/>
            <a:ext cx="607859" cy="246221"/>
          </a:xfrm>
          <a:prstGeom prst="rect">
            <a:avLst/>
          </a:prstGeom>
          <a:noFill/>
        </p:spPr>
        <p:txBody>
          <a:bodyPr wrap="none" rtlCol="0">
            <a:spAutoFit/>
          </a:bodyPr>
          <a:lstStyle/>
          <a:p>
            <a:pPr algn="r"/>
            <a:r>
              <a:rPr lang="en-US" sz="1000" dirty="0">
                <a:solidFill>
                  <a:schemeClr val="tx1">
                    <a:lumMod val="50000"/>
                    <a:lumOff val="50000"/>
                  </a:schemeClr>
                </a:solidFill>
                <a:latin typeface="Gmarket Sans TTF Medium" panose="02000000000000000000" pitchFamily="2" charset="-128"/>
                <a:ea typeface="Gmarket Sans TTF Medium" panose="02000000000000000000" pitchFamily="2" charset="-128"/>
                <a:cs typeface="Futura Medium" panose="020B0602020204020303" pitchFamily="34" charset="-79"/>
              </a:rPr>
              <a:t>13 / 19</a:t>
            </a:r>
          </a:p>
        </p:txBody>
      </p:sp>
    </p:spTree>
    <p:extLst>
      <p:ext uri="{BB962C8B-B14F-4D97-AF65-F5344CB8AC3E}">
        <p14:creationId xmlns:p14="http://schemas.microsoft.com/office/powerpoint/2010/main" val="2843883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CC5753-47BB-6EBE-3A52-7E8C59B63FB9}"/>
            </a:ext>
          </a:extLst>
        </p:cNvPr>
        <p:cNvGrpSpPr/>
        <p:nvPr/>
      </p:nvGrpSpPr>
      <p:grpSpPr>
        <a:xfrm>
          <a:off x="0" y="0"/>
          <a:ext cx="0" cy="0"/>
          <a:chOff x="0" y="0"/>
          <a:chExt cx="0" cy="0"/>
        </a:xfrm>
      </p:grpSpPr>
      <p:pic>
        <p:nvPicPr>
          <p:cNvPr id="9" name="그림 8">
            <a:extLst>
              <a:ext uri="{FF2B5EF4-FFF2-40B4-BE49-F238E27FC236}">
                <a16:creationId xmlns:a16="http://schemas.microsoft.com/office/drawing/2014/main" id="{E172B6B4-C31C-3FC6-350C-F8FBE1EA7E32}"/>
              </a:ext>
            </a:extLst>
          </p:cNvPr>
          <p:cNvPicPr>
            <a:picLocks noChangeAspect="1"/>
          </p:cNvPicPr>
          <p:nvPr/>
        </p:nvPicPr>
        <p:blipFill>
          <a:blip r:embed="rId2"/>
          <a:stretch>
            <a:fillRect/>
          </a:stretch>
        </p:blipFill>
        <p:spPr>
          <a:xfrm>
            <a:off x="524852" y="1671738"/>
            <a:ext cx="3591727" cy="1633695"/>
          </a:xfrm>
          <a:prstGeom prst="rect">
            <a:avLst/>
          </a:prstGeom>
          <a:effectLst>
            <a:outerShdw blurRad="50800" dist="38100" dir="2700000" algn="tl" rotWithShape="0">
              <a:prstClr val="black">
                <a:alpha val="40000"/>
              </a:prstClr>
            </a:outerShdw>
          </a:effectLst>
        </p:spPr>
      </p:pic>
      <p:pic>
        <p:nvPicPr>
          <p:cNvPr id="11" name="그림 10">
            <a:extLst>
              <a:ext uri="{FF2B5EF4-FFF2-40B4-BE49-F238E27FC236}">
                <a16:creationId xmlns:a16="http://schemas.microsoft.com/office/drawing/2014/main" id="{F98ED578-B5F2-3F2F-B43A-2C8DD29DBF4E}"/>
              </a:ext>
            </a:extLst>
          </p:cNvPr>
          <p:cNvPicPr>
            <a:picLocks noChangeAspect="1"/>
          </p:cNvPicPr>
          <p:nvPr/>
        </p:nvPicPr>
        <p:blipFill>
          <a:blip r:embed="rId3"/>
          <a:stretch>
            <a:fillRect/>
          </a:stretch>
        </p:blipFill>
        <p:spPr>
          <a:xfrm>
            <a:off x="4327544" y="1777864"/>
            <a:ext cx="3284280" cy="1514133"/>
          </a:xfrm>
          <a:prstGeom prst="rect">
            <a:avLst/>
          </a:prstGeom>
          <a:effectLst>
            <a:outerShdw blurRad="50800" dist="38100" dir="2700000" algn="tl" rotWithShape="0">
              <a:prstClr val="black">
                <a:alpha val="40000"/>
              </a:prstClr>
            </a:outerShdw>
          </a:effectLst>
        </p:spPr>
      </p:pic>
      <p:pic>
        <p:nvPicPr>
          <p:cNvPr id="13" name="그림 12">
            <a:extLst>
              <a:ext uri="{FF2B5EF4-FFF2-40B4-BE49-F238E27FC236}">
                <a16:creationId xmlns:a16="http://schemas.microsoft.com/office/drawing/2014/main" id="{1182F9B4-714F-EC08-6FB4-979C14DF2327}"/>
              </a:ext>
            </a:extLst>
          </p:cNvPr>
          <p:cNvPicPr>
            <a:picLocks noChangeAspect="1"/>
          </p:cNvPicPr>
          <p:nvPr/>
        </p:nvPicPr>
        <p:blipFill>
          <a:blip r:embed="rId4"/>
          <a:stretch>
            <a:fillRect/>
          </a:stretch>
        </p:blipFill>
        <p:spPr>
          <a:xfrm>
            <a:off x="7699241" y="1698829"/>
            <a:ext cx="3502887" cy="1580617"/>
          </a:xfrm>
          <a:prstGeom prst="rect">
            <a:avLst/>
          </a:prstGeom>
          <a:effectLst>
            <a:outerShdw blurRad="50800" dist="38100" dir="2700000" algn="tl" rotWithShape="0">
              <a:prstClr val="black">
                <a:alpha val="40000"/>
              </a:prstClr>
            </a:outerShdw>
          </a:effectLst>
        </p:spPr>
      </p:pic>
      <p:pic>
        <p:nvPicPr>
          <p:cNvPr id="15" name="그림 14">
            <a:extLst>
              <a:ext uri="{FF2B5EF4-FFF2-40B4-BE49-F238E27FC236}">
                <a16:creationId xmlns:a16="http://schemas.microsoft.com/office/drawing/2014/main" id="{A0C320F3-44C8-4E3E-2A36-196FEE08231F}"/>
              </a:ext>
            </a:extLst>
          </p:cNvPr>
          <p:cNvPicPr>
            <a:picLocks noChangeAspect="1"/>
          </p:cNvPicPr>
          <p:nvPr/>
        </p:nvPicPr>
        <p:blipFill>
          <a:blip r:embed="rId5"/>
          <a:stretch>
            <a:fillRect/>
          </a:stretch>
        </p:blipFill>
        <p:spPr>
          <a:xfrm>
            <a:off x="524853" y="3588575"/>
            <a:ext cx="3643229" cy="1483844"/>
          </a:xfrm>
          <a:prstGeom prst="rect">
            <a:avLst/>
          </a:prstGeom>
          <a:effectLst>
            <a:outerShdw blurRad="50800" dist="38100" dir="2700000" algn="tl" rotWithShape="0">
              <a:prstClr val="black">
                <a:alpha val="40000"/>
              </a:prstClr>
            </a:outerShdw>
          </a:effectLst>
        </p:spPr>
      </p:pic>
      <p:pic>
        <p:nvPicPr>
          <p:cNvPr id="17" name="그림 16">
            <a:extLst>
              <a:ext uri="{FF2B5EF4-FFF2-40B4-BE49-F238E27FC236}">
                <a16:creationId xmlns:a16="http://schemas.microsoft.com/office/drawing/2014/main" id="{908D9C2E-6414-F530-8644-894D54A6AE55}"/>
              </a:ext>
            </a:extLst>
          </p:cNvPr>
          <p:cNvPicPr>
            <a:picLocks noChangeAspect="1"/>
          </p:cNvPicPr>
          <p:nvPr/>
        </p:nvPicPr>
        <p:blipFill>
          <a:blip r:embed="rId6"/>
          <a:stretch>
            <a:fillRect/>
          </a:stretch>
        </p:blipFill>
        <p:spPr>
          <a:xfrm>
            <a:off x="4290473" y="3436521"/>
            <a:ext cx="3502887" cy="1648184"/>
          </a:xfrm>
          <a:prstGeom prst="rect">
            <a:avLst/>
          </a:prstGeom>
          <a:effectLst>
            <a:outerShdw blurRad="50800" dist="38100" dir="2700000" algn="tl" rotWithShape="0">
              <a:prstClr val="black">
                <a:alpha val="40000"/>
              </a:prstClr>
            </a:outerShdw>
          </a:effectLst>
        </p:spPr>
      </p:pic>
      <p:pic>
        <p:nvPicPr>
          <p:cNvPr id="19" name="그림 18">
            <a:extLst>
              <a:ext uri="{FF2B5EF4-FFF2-40B4-BE49-F238E27FC236}">
                <a16:creationId xmlns:a16="http://schemas.microsoft.com/office/drawing/2014/main" id="{02CD6274-637C-C36F-9D8E-2808E89E83D2}"/>
              </a:ext>
            </a:extLst>
          </p:cNvPr>
          <p:cNvPicPr>
            <a:picLocks noChangeAspect="1"/>
          </p:cNvPicPr>
          <p:nvPr/>
        </p:nvPicPr>
        <p:blipFill>
          <a:blip r:embed="rId7"/>
          <a:stretch>
            <a:fillRect/>
          </a:stretch>
        </p:blipFill>
        <p:spPr>
          <a:xfrm>
            <a:off x="7864457" y="3552567"/>
            <a:ext cx="3343122" cy="151413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19022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35FFD17-8478-37DB-014F-5DD4C3DD449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0183672-2639-CD44-499C-41F0BC73855D}"/>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A858F2CD-C506-8328-4C27-882A43464390}"/>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67B57E-6C56-E7BB-1708-CCB920663D92}"/>
              </a:ext>
            </a:extLst>
          </p:cNvPr>
          <p:cNvSpPr txBox="1"/>
          <p:nvPr/>
        </p:nvSpPr>
        <p:spPr>
          <a:xfrm>
            <a:off x="6567573" y="2433263"/>
            <a:ext cx="3914124" cy="461665"/>
          </a:xfrm>
          <a:prstGeom prst="rect">
            <a:avLst/>
          </a:prstGeom>
          <a:solidFill>
            <a:schemeClr val="bg1"/>
          </a:solidFill>
        </p:spPr>
        <p:txBody>
          <a:bodyPr wrap="square">
            <a:spAutoFit/>
          </a:bodyPr>
          <a:lstStyle/>
          <a:p>
            <a:pPr algn="r"/>
            <a:r>
              <a:rPr lang="en" altLang="ko-KR" sz="1200" dirty="0">
                <a:solidFill>
                  <a:srgbClr val="002060"/>
                </a:solidFill>
                <a:latin typeface="Gmarket Sans TTF Medium" panose="02000000000000000000" pitchFamily="2" charset="-128"/>
                <a:ea typeface="Gmarket Sans TTF Medium" panose="02000000000000000000" pitchFamily="2" charset="-128"/>
              </a:rPr>
              <a:t>Design projects can be saved to cloud storage within the web platform.</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5" name="TextBox 4">
            <a:extLst>
              <a:ext uri="{FF2B5EF4-FFF2-40B4-BE49-F238E27FC236}">
                <a16:creationId xmlns:a16="http://schemas.microsoft.com/office/drawing/2014/main" id="{FF341152-08AC-78FB-033D-6545781FE7B9}"/>
              </a:ext>
            </a:extLst>
          </p:cNvPr>
          <p:cNvSpPr txBox="1"/>
          <p:nvPr/>
        </p:nvSpPr>
        <p:spPr>
          <a:xfrm>
            <a:off x="6096000" y="2080592"/>
            <a:ext cx="4385697" cy="307777"/>
          </a:xfrm>
          <a:prstGeom prst="rect">
            <a:avLst/>
          </a:prstGeom>
          <a:solidFill>
            <a:schemeClr val="bg1"/>
          </a:solidFill>
        </p:spPr>
        <p:txBody>
          <a:bodyPr wrap="square">
            <a:spAutoFit/>
          </a:bodyPr>
          <a:lstStyle/>
          <a:p>
            <a:pPr algn="r"/>
            <a:r>
              <a:rPr lang="en" altLang="ko-KR" sz="1400" b="1" dirty="0">
                <a:solidFill>
                  <a:srgbClr val="002060"/>
                </a:solidFill>
                <a:latin typeface="Gmarket Sans TTF Bold" panose="02000000000000000000" pitchFamily="2" charset="-128"/>
                <a:ea typeface="Gmarket Sans TTF Bold" panose="02000000000000000000" pitchFamily="2" charset="-128"/>
              </a:rPr>
              <a:t>Save</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6" name="TextBox 5">
            <a:extLst>
              <a:ext uri="{FF2B5EF4-FFF2-40B4-BE49-F238E27FC236}">
                <a16:creationId xmlns:a16="http://schemas.microsoft.com/office/drawing/2014/main" id="{89251D91-C47C-2D72-B1DF-965D49EC78FC}"/>
              </a:ext>
            </a:extLst>
          </p:cNvPr>
          <p:cNvSpPr txBox="1"/>
          <p:nvPr/>
        </p:nvSpPr>
        <p:spPr>
          <a:xfrm>
            <a:off x="495946" y="697488"/>
            <a:ext cx="2908168"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Features by Interface</a:t>
            </a:r>
          </a:p>
        </p:txBody>
      </p:sp>
    </p:spTree>
    <p:extLst>
      <p:ext uri="{BB962C8B-B14F-4D97-AF65-F5344CB8AC3E}">
        <p14:creationId xmlns:p14="http://schemas.microsoft.com/office/powerpoint/2010/main" val="297972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107DE5B-6DCB-03D0-44C1-A454C52B8057}"/>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3A5930D1-C8CB-7BA2-A961-F0F9E231C028}"/>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1FD3624E-0738-E5EF-EDDA-2B5C207F6999}"/>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28BE27F-968C-6DB6-0212-880C274C85E3}"/>
              </a:ext>
            </a:extLst>
          </p:cNvPr>
          <p:cNvSpPr txBox="1"/>
          <p:nvPr/>
        </p:nvSpPr>
        <p:spPr>
          <a:xfrm>
            <a:off x="6380922" y="1941444"/>
            <a:ext cx="4160410" cy="461665"/>
          </a:xfrm>
          <a:prstGeom prst="rect">
            <a:avLst/>
          </a:prstGeom>
          <a:solidFill>
            <a:schemeClr val="bg1"/>
          </a:solidFill>
        </p:spPr>
        <p:txBody>
          <a:bodyPr wrap="square">
            <a:spAutoFit/>
          </a:bodyPr>
          <a:lstStyle/>
          <a:p>
            <a:pPr algn="r"/>
            <a:r>
              <a:rPr lang="en" altLang="ko-KR" sz="1200" dirty="0">
                <a:solidFill>
                  <a:srgbClr val="002060"/>
                </a:solidFill>
                <a:latin typeface="Gmarket Sans TTF Medium" panose="02000000000000000000" pitchFamily="2" charset="-128"/>
                <a:ea typeface="Gmarket Sans TTF Medium" panose="02000000000000000000" pitchFamily="2" charset="-128"/>
              </a:rPr>
              <a:t>Design projects can be downloaded in various formats, including PDF, PNG, JPG, and PPT.</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5" name="TextBox 4">
            <a:extLst>
              <a:ext uri="{FF2B5EF4-FFF2-40B4-BE49-F238E27FC236}">
                <a16:creationId xmlns:a16="http://schemas.microsoft.com/office/drawing/2014/main" id="{3FE018E1-F0FD-9AF9-5B2E-629B39310D05}"/>
              </a:ext>
            </a:extLst>
          </p:cNvPr>
          <p:cNvSpPr txBox="1"/>
          <p:nvPr/>
        </p:nvSpPr>
        <p:spPr>
          <a:xfrm>
            <a:off x="6096000" y="1574033"/>
            <a:ext cx="4385697" cy="307777"/>
          </a:xfrm>
          <a:prstGeom prst="rect">
            <a:avLst/>
          </a:prstGeom>
          <a:solidFill>
            <a:schemeClr val="bg1"/>
          </a:solidFill>
        </p:spPr>
        <p:txBody>
          <a:bodyPr wrap="square">
            <a:spAutoFit/>
          </a:bodyPr>
          <a:lstStyle/>
          <a:p>
            <a:pPr algn="r"/>
            <a:r>
              <a:rPr lang="en" altLang="ko-KR" sz="1400" b="1" dirty="0">
                <a:solidFill>
                  <a:srgbClr val="002060"/>
                </a:solidFill>
                <a:latin typeface="Gmarket Sans TTF Bold" panose="02000000000000000000" pitchFamily="2" charset="-128"/>
                <a:ea typeface="Gmarket Sans TTF Bold" panose="02000000000000000000" pitchFamily="2" charset="-128"/>
              </a:rPr>
              <a:t>Download</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6" name="TextBox 5">
            <a:extLst>
              <a:ext uri="{FF2B5EF4-FFF2-40B4-BE49-F238E27FC236}">
                <a16:creationId xmlns:a16="http://schemas.microsoft.com/office/drawing/2014/main" id="{56848D6D-58E0-8601-D6A9-D3A3241AF922}"/>
              </a:ext>
            </a:extLst>
          </p:cNvPr>
          <p:cNvSpPr txBox="1"/>
          <p:nvPr/>
        </p:nvSpPr>
        <p:spPr>
          <a:xfrm>
            <a:off x="495946" y="697488"/>
            <a:ext cx="2908168"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Features by Interface</a:t>
            </a:r>
          </a:p>
        </p:txBody>
      </p:sp>
    </p:spTree>
    <p:extLst>
      <p:ext uri="{BB962C8B-B14F-4D97-AF65-F5344CB8AC3E}">
        <p14:creationId xmlns:p14="http://schemas.microsoft.com/office/powerpoint/2010/main" val="3344701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13B73A8-75CB-7339-FD35-45808EAC27C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0CD3D41-1237-1CF0-491F-53A9CA376A3B}"/>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96AFFCD0-A7A5-019D-F3D0-78C0C278F4C7}"/>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73A0FEC-ECC4-53A4-8111-76C23F3DEB54}"/>
              </a:ext>
            </a:extLst>
          </p:cNvPr>
          <p:cNvSpPr txBox="1"/>
          <p:nvPr/>
        </p:nvSpPr>
        <p:spPr>
          <a:xfrm>
            <a:off x="5931122" y="2140226"/>
            <a:ext cx="4385697" cy="461665"/>
          </a:xfrm>
          <a:prstGeom prst="rect">
            <a:avLst/>
          </a:prstGeom>
          <a:solidFill>
            <a:schemeClr val="bg1"/>
          </a:solidFill>
        </p:spPr>
        <p:txBody>
          <a:bodyPr wrap="square">
            <a:spAutoFit/>
          </a:bodyPr>
          <a:lstStyle/>
          <a:p>
            <a:pPr algn="r"/>
            <a:r>
              <a:rPr lang="en" altLang="ko-KR" sz="1200" dirty="0">
                <a:solidFill>
                  <a:srgbClr val="002060"/>
                </a:solidFill>
                <a:latin typeface="Gmarket Sans TTF Medium" panose="02000000000000000000" pitchFamily="2" charset="-128"/>
                <a:ea typeface="Gmarket Sans TTF Medium" panose="02000000000000000000" pitchFamily="2" charset="-128"/>
              </a:rPr>
              <a:t>Users can save multiple versions of their design projects and manage their storage space.</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5" name="TextBox 4">
            <a:extLst>
              <a:ext uri="{FF2B5EF4-FFF2-40B4-BE49-F238E27FC236}">
                <a16:creationId xmlns:a16="http://schemas.microsoft.com/office/drawing/2014/main" id="{D58AD121-49F6-75E9-D8F3-B3B8079D28EE}"/>
              </a:ext>
            </a:extLst>
          </p:cNvPr>
          <p:cNvSpPr txBox="1"/>
          <p:nvPr/>
        </p:nvSpPr>
        <p:spPr>
          <a:xfrm>
            <a:off x="5888439" y="1772815"/>
            <a:ext cx="4385697" cy="307777"/>
          </a:xfrm>
          <a:prstGeom prst="rect">
            <a:avLst/>
          </a:prstGeom>
          <a:solidFill>
            <a:schemeClr val="bg1"/>
          </a:solidFill>
        </p:spPr>
        <p:txBody>
          <a:bodyPr wrap="square">
            <a:spAutoFit/>
          </a:bodyPr>
          <a:lstStyle/>
          <a:p>
            <a:pPr algn="r"/>
            <a:r>
              <a:rPr lang="en" altLang="ko-KR" sz="1400" b="1" dirty="0">
                <a:solidFill>
                  <a:srgbClr val="002060"/>
                </a:solidFill>
                <a:latin typeface="Gmarket Sans TTF Bold" panose="02000000000000000000" pitchFamily="2" charset="-128"/>
                <a:ea typeface="Gmarket Sans TTF Bold" panose="02000000000000000000" pitchFamily="2" charset="-128"/>
              </a:rPr>
              <a:t>Workspace Management</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6" name="TextBox 5">
            <a:extLst>
              <a:ext uri="{FF2B5EF4-FFF2-40B4-BE49-F238E27FC236}">
                <a16:creationId xmlns:a16="http://schemas.microsoft.com/office/drawing/2014/main" id="{331C1C67-F31C-6CEF-90B7-5A7C8CD0F5FA}"/>
              </a:ext>
            </a:extLst>
          </p:cNvPr>
          <p:cNvSpPr txBox="1"/>
          <p:nvPr/>
        </p:nvSpPr>
        <p:spPr>
          <a:xfrm>
            <a:off x="495946" y="697488"/>
            <a:ext cx="2908168"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Features by Interface</a:t>
            </a:r>
          </a:p>
        </p:txBody>
      </p:sp>
    </p:spTree>
    <p:extLst>
      <p:ext uri="{BB962C8B-B14F-4D97-AF65-F5344CB8AC3E}">
        <p14:creationId xmlns:p14="http://schemas.microsoft.com/office/powerpoint/2010/main" val="987452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DAE4839-12E4-0A9C-D0B8-176CB9D29C6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76C6EB0-F052-BBF8-DAE6-4F8DD0C2E40C}"/>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62A5CBB0-1436-29CC-B180-2A1B5A7F8F1F}"/>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16A13E2-A2E7-6995-662E-77E06DDEB3A2}"/>
              </a:ext>
            </a:extLst>
          </p:cNvPr>
          <p:cNvSpPr txBox="1"/>
          <p:nvPr/>
        </p:nvSpPr>
        <p:spPr>
          <a:xfrm>
            <a:off x="1969842" y="2699081"/>
            <a:ext cx="6438662" cy="461665"/>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This feature allows users to display announcements directly in the workspace when they need to notify all team members in the design space.</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5" name="TextBox 4">
            <a:extLst>
              <a:ext uri="{FF2B5EF4-FFF2-40B4-BE49-F238E27FC236}">
                <a16:creationId xmlns:a16="http://schemas.microsoft.com/office/drawing/2014/main" id="{CFA6EF67-21F5-9853-AA79-878DB9D32727}"/>
              </a:ext>
            </a:extLst>
          </p:cNvPr>
          <p:cNvSpPr txBox="1"/>
          <p:nvPr/>
        </p:nvSpPr>
        <p:spPr>
          <a:xfrm>
            <a:off x="1969842" y="2315460"/>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Broadcast</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6" name="TextBox 5">
            <a:extLst>
              <a:ext uri="{FF2B5EF4-FFF2-40B4-BE49-F238E27FC236}">
                <a16:creationId xmlns:a16="http://schemas.microsoft.com/office/drawing/2014/main" id="{41A742E3-CEE0-7BC5-8D8C-BFBF9182D0B4}"/>
              </a:ext>
            </a:extLst>
          </p:cNvPr>
          <p:cNvSpPr txBox="1"/>
          <p:nvPr/>
        </p:nvSpPr>
        <p:spPr>
          <a:xfrm>
            <a:off x="495946" y="697488"/>
            <a:ext cx="2908168"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Features by Interface</a:t>
            </a:r>
          </a:p>
        </p:txBody>
      </p:sp>
    </p:spTree>
    <p:extLst>
      <p:ext uri="{BB962C8B-B14F-4D97-AF65-F5344CB8AC3E}">
        <p14:creationId xmlns:p14="http://schemas.microsoft.com/office/powerpoint/2010/main" val="4139297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845E336-D8DF-81D2-A7C3-D0803A09B26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C6341D5-46EF-0E25-0FCD-6DAAC9B44CC4}"/>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5C5B09A9-6D1A-3266-80CB-AB124BF861C8}"/>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922B99E-BA4D-A063-08A3-71BCE85ED4F8}"/>
              </a:ext>
            </a:extLst>
          </p:cNvPr>
          <p:cNvSpPr txBox="1"/>
          <p:nvPr/>
        </p:nvSpPr>
        <p:spPr>
          <a:xfrm>
            <a:off x="1850573" y="2543725"/>
            <a:ext cx="4385696" cy="1015663"/>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This feature eliminates the inconvenience of switching back and forth between the design workspace and external messaging apps when exchanging feedback and collaborating with team members.</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6" name="TextBox 5">
            <a:extLst>
              <a:ext uri="{FF2B5EF4-FFF2-40B4-BE49-F238E27FC236}">
                <a16:creationId xmlns:a16="http://schemas.microsoft.com/office/drawing/2014/main" id="{06C0262A-A5F5-EA13-5FA9-796750881FC6}"/>
              </a:ext>
            </a:extLst>
          </p:cNvPr>
          <p:cNvSpPr txBox="1"/>
          <p:nvPr/>
        </p:nvSpPr>
        <p:spPr>
          <a:xfrm>
            <a:off x="1850572" y="2235948"/>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Communication</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7" name="TextBox 6">
            <a:extLst>
              <a:ext uri="{FF2B5EF4-FFF2-40B4-BE49-F238E27FC236}">
                <a16:creationId xmlns:a16="http://schemas.microsoft.com/office/drawing/2014/main" id="{3486B78D-C4D6-D532-B92C-E40723ABFCCB}"/>
              </a:ext>
            </a:extLst>
          </p:cNvPr>
          <p:cNvSpPr txBox="1"/>
          <p:nvPr/>
        </p:nvSpPr>
        <p:spPr>
          <a:xfrm>
            <a:off x="495946" y="697488"/>
            <a:ext cx="2908168"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Features by Interface</a:t>
            </a:r>
          </a:p>
        </p:txBody>
      </p:sp>
    </p:spTree>
    <p:extLst>
      <p:ext uri="{BB962C8B-B14F-4D97-AF65-F5344CB8AC3E}">
        <p14:creationId xmlns:p14="http://schemas.microsoft.com/office/powerpoint/2010/main" val="2241733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69256B2-344A-10F0-8311-6A80CE46870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CA20C988-4650-2F82-60F6-6D5FA2F7DBEC}"/>
              </a:ext>
            </a:extLst>
          </p:cNvPr>
          <p:cNvSpPr/>
          <p:nvPr/>
        </p:nvSpPr>
        <p:spPr>
          <a:xfrm>
            <a:off x="0" y="0"/>
            <a:ext cx="12478043" cy="5205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직사각형 2">
            <a:extLst>
              <a:ext uri="{FF2B5EF4-FFF2-40B4-BE49-F238E27FC236}">
                <a16:creationId xmlns:a16="http://schemas.microsoft.com/office/drawing/2014/main" id="{D0E458A0-F7E9-87F7-6E35-F3F8CB2A8F0C}"/>
              </a:ext>
            </a:extLst>
          </p:cNvPr>
          <p:cNvSpPr/>
          <p:nvPr/>
        </p:nvSpPr>
        <p:spPr>
          <a:xfrm>
            <a:off x="-1398103" y="675861"/>
            <a:ext cx="5943600" cy="1404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111CB-6263-2465-5171-0DC660931288}"/>
              </a:ext>
            </a:extLst>
          </p:cNvPr>
          <p:cNvSpPr txBox="1"/>
          <p:nvPr/>
        </p:nvSpPr>
        <p:spPr>
          <a:xfrm>
            <a:off x="1472886" y="2583481"/>
            <a:ext cx="3914124" cy="646331"/>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The timeline allows users to track who created specific design elements, when they were created, and where they were placed.</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5" name="TextBox 4">
            <a:extLst>
              <a:ext uri="{FF2B5EF4-FFF2-40B4-BE49-F238E27FC236}">
                <a16:creationId xmlns:a16="http://schemas.microsoft.com/office/drawing/2014/main" id="{6FAB4F63-B414-7954-9E4C-727EC8E11723}"/>
              </a:ext>
            </a:extLst>
          </p:cNvPr>
          <p:cNvSpPr txBox="1"/>
          <p:nvPr/>
        </p:nvSpPr>
        <p:spPr>
          <a:xfrm>
            <a:off x="1472885" y="2275704"/>
            <a:ext cx="4385697"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Timeline</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7" name="TextBox 6">
            <a:extLst>
              <a:ext uri="{FF2B5EF4-FFF2-40B4-BE49-F238E27FC236}">
                <a16:creationId xmlns:a16="http://schemas.microsoft.com/office/drawing/2014/main" id="{95BE6A04-9135-8D57-372E-EA4635800CBD}"/>
              </a:ext>
            </a:extLst>
          </p:cNvPr>
          <p:cNvSpPr txBox="1"/>
          <p:nvPr/>
        </p:nvSpPr>
        <p:spPr>
          <a:xfrm>
            <a:off x="9713323" y="1829427"/>
            <a:ext cx="2299238" cy="830997"/>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View the final contributor for each date and the elements modified on that date.</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8" name="TextBox 7">
            <a:extLst>
              <a:ext uri="{FF2B5EF4-FFF2-40B4-BE49-F238E27FC236}">
                <a16:creationId xmlns:a16="http://schemas.microsoft.com/office/drawing/2014/main" id="{930F7B86-9088-499F-1AC7-B0E0477B0985}"/>
              </a:ext>
            </a:extLst>
          </p:cNvPr>
          <p:cNvSpPr txBox="1"/>
          <p:nvPr/>
        </p:nvSpPr>
        <p:spPr>
          <a:xfrm>
            <a:off x="9794438" y="1481889"/>
            <a:ext cx="2218123"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Date</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9" name="TextBox 8">
            <a:extLst>
              <a:ext uri="{FF2B5EF4-FFF2-40B4-BE49-F238E27FC236}">
                <a16:creationId xmlns:a16="http://schemas.microsoft.com/office/drawing/2014/main" id="{7BF2C616-A58F-BCD3-1F98-4687B33440F3}"/>
              </a:ext>
            </a:extLst>
          </p:cNvPr>
          <p:cNvSpPr txBox="1"/>
          <p:nvPr/>
        </p:nvSpPr>
        <p:spPr>
          <a:xfrm>
            <a:off x="9713323" y="3540240"/>
            <a:ext cx="2299238" cy="646331"/>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View the contributor(s) and modification date(s) for each element.</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0" name="TextBox 9">
            <a:extLst>
              <a:ext uri="{FF2B5EF4-FFF2-40B4-BE49-F238E27FC236}">
                <a16:creationId xmlns:a16="http://schemas.microsoft.com/office/drawing/2014/main" id="{C29066AA-A32C-2BF3-7368-AD4BCD69CDA6}"/>
              </a:ext>
            </a:extLst>
          </p:cNvPr>
          <p:cNvSpPr txBox="1"/>
          <p:nvPr/>
        </p:nvSpPr>
        <p:spPr>
          <a:xfrm>
            <a:off x="9794438" y="3192702"/>
            <a:ext cx="2218123"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Element(s)</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1" name="TextBox 10">
            <a:extLst>
              <a:ext uri="{FF2B5EF4-FFF2-40B4-BE49-F238E27FC236}">
                <a16:creationId xmlns:a16="http://schemas.microsoft.com/office/drawing/2014/main" id="{6D4100A2-7E0D-BB04-590D-C83B781C2552}"/>
              </a:ext>
            </a:extLst>
          </p:cNvPr>
          <p:cNvSpPr txBox="1"/>
          <p:nvPr/>
        </p:nvSpPr>
        <p:spPr>
          <a:xfrm>
            <a:off x="9713323" y="5339543"/>
            <a:ext cx="2299238" cy="830997"/>
          </a:xfrm>
          <a:prstGeom prst="rect">
            <a:avLst/>
          </a:prstGeom>
          <a:solidFill>
            <a:schemeClr val="bg1"/>
          </a:solidFill>
        </p:spPr>
        <p:txBody>
          <a:bodyPr wrap="square">
            <a:spAutoFit/>
          </a:bodyPr>
          <a:lstStyle/>
          <a:p>
            <a:r>
              <a:rPr lang="en" altLang="ko-KR" sz="1200" dirty="0">
                <a:solidFill>
                  <a:srgbClr val="002060"/>
                </a:solidFill>
                <a:latin typeface="Gmarket Sans TTF Medium" panose="02000000000000000000" pitchFamily="2" charset="-128"/>
                <a:ea typeface="Gmarket Sans TTF Medium" panose="02000000000000000000" pitchFamily="2" charset="-128"/>
              </a:rPr>
              <a:t>View the elements modified by each contributor and the dates of their work.</a:t>
            </a:r>
            <a:endParaRPr lang="en-US" sz="1200" dirty="0">
              <a:solidFill>
                <a:srgbClr val="002060"/>
              </a:solidFill>
              <a:latin typeface="Gmarket Sans TTF Medium" panose="02000000000000000000" pitchFamily="2" charset="-128"/>
              <a:ea typeface="Gmarket Sans TTF Medium" panose="02000000000000000000" pitchFamily="2" charset="-128"/>
            </a:endParaRPr>
          </a:p>
        </p:txBody>
      </p:sp>
      <p:sp>
        <p:nvSpPr>
          <p:cNvPr id="12" name="TextBox 11">
            <a:extLst>
              <a:ext uri="{FF2B5EF4-FFF2-40B4-BE49-F238E27FC236}">
                <a16:creationId xmlns:a16="http://schemas.microsoft.com/office/drawing/2014/main" id="{0A4D0772-0A55-DF9A-6CCA-37E9E23FE8D9}"/>
              </a:ext>
            </a:extLst>
          </p:cNvPr>
          <p:cNvSpPr txBox="1"/>
          <p:nvPr/>
        </p:nvSpPr>
        <p:spPr>
          <a:xfrm>
            <a:off x="9794438" y="4992005"/>
            <a:ext cx="2218123" cy="307777"/>
          </a:xfrm>
          <a:prstGeom prst="rect">
            <a:avLst/>
          </a:prstGeom>
          <a:solidFill>
            <a:schemeClr val="bg1"/>
          </a:solidFill>
        </p:spPr>
        <p:txBody>
          <a:bodyPr wrap="square">
            <a:spAutoFit/>
          </a:bodyPr>
          <a:lstStyle/>
          <a:p>
            <a:r>
              <a:rPr lang="en" altLang="ko-KR" sz="1400" b="1" dirty="0">
                <a:solidFill>
                  <a:srgbClr val="002060"/>
                </a:solidFill>
                <a:latin typeface="Gmarket Sans TTF Bold" panose="02000000000000000000" pitchFamily="2" charset="-128"/>
                <a:ea typeface="Gmarket Sans TTF Bold" panose="02000000000000000000" pitchFamily="2" charset="-128"/>
              </a:rPr>
              <a:t>Contributor(s)</a:t>
            </a:r>
            <a:endParaRPr lang="en-US" sz="1400" b="1" dirty="0">
              <a:solidFill>
                <a:srgbClr val="002060"/>
              </a:solidFill>
              <a:latin typeface="Gmarket Sans TTF Bold" panose="02000000000000000000" pitchFamily="2" charset="-128"/>
              <a:ea typeface="Gmarket Sans TTF Bold" panose="02000000000000000000" pitchFamily="2" charset="-128"/>
            </a:endParaRPr>
          </a:p>
        </p:txBody>
      </p:sp>
      <p:sp>
        <p:nvSpPr>
          <p:cNvPr id="13" name="TextBox 12">
            <a:extLst>
              <a:ext uri="{FF2B5EF4-FFF2-40B4-BE49-F238E27FC236}">
                <a16:creationId xmlns:a16="http://schemas.microsoft.com/office/drawing/2014/main" id="{DA9652CE-2200-1CC9-3825-EBED3119CB03}"/>
              </a:ext>
            </a:extLst>
          </p:cNvPr>
          <p:cNvSpPr txBox="1"/>
          <p:nvPr/>
        </p:nvSpPr>
        <p:spPr>
          <a:xfrm>
            <a:off x="495946" y="697488"/>
            <a:ext cx="2908168" cy="369332"/>
          </a:xfrm>
          <a:prstGeom prst="rect">
            <a:avLst/>
          </a:prstGeom>
          <a:noFill/>
        </p:spPr>
        <p:txBody>
          <a:bodyPr wrap="none" rtlCol="0">
            <a:spAutoFit/>
          </a:bodyPr>
          <a:lstStyle/>
          <a:p>
            <a:r>
              <a:rPr lang="en-US" dirty="0">
                <a:solidFill>
                  <a:srgbClr val="002060"/>
                </a:solidFill>
                <a:latin typeface="Gmarket Sans TTF Medium" panose="02000000000000000000" pitchFamily="2" charset="-128"/>
                <a:ea typeface="Gmarket Sans TTF Medium" panose="02000000000000000000" pitchFamily="2" charset="-128"/>
                <a:cs typeface="Futura Medium" panose="020B0602020204020303" pitchFamily="34" charset="-79"/>
              </a:rPr>
              <a:t>Features by Interface</a:t>
            </a:r>
          </a:p>
        </p:txBody>
      </p:sp>
    </p:spTree>
    <p:extLst>
      <p:ext uri="{BB962C8B-B14F-4D97-AF65-F5344CB8AC3E}">
        <p14:creationId xmlns:p14="http://schemas.microsoft.com/office/powerpoint/2010/main" val="293802802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1684</Words>
  <Application>Microsoft Macintosh PowerPoint</Application>
  <PresentationFormat>와이드스크린</PresentationFormat>
  <Paragraphs>150</Paragraphs>
  <Slides>20</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20</vt:i4>
      </vt:variant>
    </vt:vector>
  </HeadingPairs>
  <TitlesOfParts>
    <vt:vector size="26" baseType="lpstr">
      <vt:lpstr>맑은 고딕</vt:lpstr>
      <vt:lpstr>Gmarket Sans TTF Bold</vt:lpstr>
      <vt:lpstr>Gmarket Sans TTF Medium</vt:lpstr>
      <vt:lpstr>Arial</vt:lpstr>
      <vt:lpstr>Helvetica</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정다운</dc:creator>
  <cp:lastModifiedBy>정다운</cp:lastModifiedBy>
  <cp:revision>5</cp:revision>
  <dcterms:created xsi:type="dcterms:W3CDTF">2026-08-26T09:47:15Z</dcterms:created>
  <dcterms:modified xsi:type="dcterms:W3CDTF">2026-08-26T10:58:45Z</dcterms:modified>
</cp:coreProperties>
</file>