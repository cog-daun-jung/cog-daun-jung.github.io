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1F44"/>
    <a:srgbClr val="9773FB"/>
    <a:srgbClr val="FFCE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28"/>
    <p:restoredTop sz="94643"/>
  </p:normalViewPr>
  <p:slideViewPr>
    <p:cSldViewPr snapToGrid="0">
      <p:cViewPr>
        <p:scale>
          <a:sx n="134" d="100"/>
          <a:sy n="134" d="100"/>
        </p:scale>
        <p:origin x="14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C0B8CD-4B0E-4449-811A-0A8C1B8CD1F2}" type="datetimeFigureOut">
              <a:rPr lang="en-US" smtClean="0"/>
              <a:t>8/26/26</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C080EA-15FF-E543-876E-02FC164EADF2}" type="slidenum">
              <a:rPr lang="en-US" smtClean="0"/>
              <a:t>‹#›</a:t>
            </a:fld>
            <a:endParaRPr lang="en-US"/>
          </a:p>
        </p:txBody>
      </p:sp>
    </p:spTree>
    <p:extLst>
      <p:ext uri="{BB962C8B-B14F-4D97-AF65-F5344CB8AC3E}">
        <p14:creationId xmlns:p14="http://schemas.microsoft.com/office/powerpoint/2010/main" val="84061034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dirty="0"/>
          </a:p>
        </p:txBody>
      </p:sp>
      <p:sp>
        <p:nvSpPr>
          <p:cNvPr id="4" name="슬라이드 번호 개체 틀 3"/>
          <p:cNvSpPr>
            <a:spLocks noGrp="1"/>
          </p:cNvSpPr>
          <p:nvPr>
            <p:ph type="sldNum" sz="quarter" idx="5"/>
          </p:nvPr>
        </p:nvSpPr>
        <p:spPr/>
        <p:txBody>
          <a:bodyPr/>
          <a:lstStyle/>
          <a:p>
            <a:fld id="{E6C080EA-15FF-E543-876E-02FC164EADF2}" type="slidenum">
              <a:rPr lang="en-US" smtClean="0"/>
              <a:t>1</a:t>
            </a:fld>
            <a:endParaRPr lang="en-US"/>
          </a:p>
        </p:txBody>
      </p:sp>
    </p:spTree>
    <p:extLst>
      <p:ext uri="{BB962C8B-B14F-4D97-AF65-F5344CB8AC3E}">
        <p14:creationId xmlns:p14="http://schemas.microsoft.com/office/powerpoint/2010/main" val="3894854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BFF590-7D43-0FDA-93A4-58E031D9FEA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046FEA64-420D-23BA-CA51-FF64EE4DDE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2A68256E-A625-3390-F2E0-98BBF9589527}"/>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5" name="바닥글 개체 틀 4">
            <a:extLst>
              <a:ext uri="{FF2B5EF4-FFF2-40B4-BE49-F238E27FC236}">
                <a16:creationId xmlns:a16="http://schemas.microsoft.com/office/drawing/2014/main" id="{65309563-1C6E-85F5-3437-E0F46BA5EE16}"/>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C4EAD9E6-55C4-82A1-E285-750F8B870605}"/>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2924500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FCCF46D-E453-9D6C-84E7-33D40CC30A1A}"/>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E79242F1-FC48-9560-0CED-67131CF0AA6F}"/>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63AD10AE-AEAA-1E1F-7D23-7030B67D4D8A}"/>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5" name="바닥글 개체 틀 4">
            <a:extLst>
              <a:ext uri="{FF2B5EF4-FFF2-40B4-BE49-F238E27FC236}">
                <a16:creationId xmlns:a16="http://schemas.microsoft.com/office/drawing/2014/main" id="{537C3D3B-36D8-B48F-3A01-6BCC7405DDF6}"/>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3F1C0540-7615-986E-E8B0-658B7A54B244}"/>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3846807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C2C7FFD-03F3-3340-6B8B-0BA273BDF34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4FF173F4-AA12-2E58-C1DD-F974B36E55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EB133C9-427C-2A36-1C2F-EE5B048969FA}"/>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5" name="바닥글 개체 틀 4">
            <a:extLst>
              <a:ext uri="{FF2B5EF4-FFF2-40B4-BE49-F238E27FC236}">
                <a16:creationId xmlns:a16="http://schemas.microsoft.com/office/drawing/2014/main" id="{BCB6939D-8EEE-D15A-0561-CC46DF444866}"/>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069D8BC3-AA39-983C-01DE-D545E9896F15}"/>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3112395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348F955-A94D-7D31-45FB-A04353447F3E}"/>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59FFBFC7-1664-30C4-E7E0-F2CC6F33FC01}"/>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내용 개체 틀 3">
            <a:extLst>
              <a:ext uri="{FF2B5EF4-FFF2-40B4-BE49-F238E27FC236}">
                <a16:creationId xmlns:a16="http://schemas.microsoft.com/office/drawing/2014/main" id="{4F6B6AEA-5245-62E4-2F69-844A6AA4D62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날짜 개체 틀 4">
            <a:extLst>
              <a:ext uri="{FF2B5EF4-FFF2-40B4-BE49-F238E27FC236}">
                <a16:creationId xmlns:a16="http://schemas.microsoft.com/office/drawing/2014/main" id="{793BB263-5C99-5E42-3BAE-588CB7F7EE04}"/>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6" name="바닥글 개체 틀 5">
            <a:extLst>
              <a:ext uri="{FF2B5EF4-FFF2-40B4-BE49-F238E27FC236}">
                <a16:creationId xmlns:a16="http://schemas.microsoft.com/office/drawing/2014/main" id="{D03090B5-DD40-3188-38CB-7943684C0943}"/>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84AA0AA2-C431-C3AF-1883-22B319AC0AF0}"/>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305801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6A872AE-90E9-E101-83A3-F171BD6080FD}"/>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E3C4A9B6-15B7-B588-4802-FEFCE500FD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EC0DB7F2-9D66-CD35-2711-0397BBC1D3CC}"/>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텍스트 개체 틀 4">
            <a:extLst>
              <a:ext uri="{FF2B5EF4-FFF2-40B4-BE49-F238E27FC236}">
                <a16:creationId xmlns:a16="http://schemas.microsoft.com/office/drawing/2014/main" id="{DBC29A7A-10FC-4D11-187F-D1F105E191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1C161A2B-A807-00DA-C3C0-1BF08BD67217}"/>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날짜 개체 틀 6">
            <a:extLst>
              <a:ext uri="{FF2B5EF4-FFF2-40B4-BE49-F238E27FC236}">
                <a16:creationId xmlns:a16="http://schemas.microsoft.com/office/drawing/2014/main" id="{F0175537-C8F3-BF0A-9EAD-C3B56801AAF6}"/>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8" name="바닥글 개체 틀 7">
            <a:extLst>
              <a:ext uri="{FF2B5EF4-FFF2-40B4-BE49-F238E27FC236}">
                <a16:creationId xmlns:a16="http://schemas.microsoft.com/office/drawing/2014/main" id="{25F85268-C558-AE16-6FF1-B304C5589B07}"/>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F473C768-7CCA-B3EB-EDEA-29CA39879BEB}"/>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2163797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7251B38-5443-32E4-7FC5-F415FBF833C5}"/>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9A9B14C1-AFC8-2742-3BDF-5B58B2E84358}"/>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4" name="바닥글 개체 틀 3">
            <a:extLst>
              <a:ext uri="{FF2B5EF4-FFF2-40B4-BE49-F238E27FC236}">
                <a16:creationId xmlns:a16="http://schemas.microsoft.com/office/drawing/2014/main" id="{2DD1F2F8-885D-5692-2A9F-FB6C1C724200}"/>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196F98A9-75FA-1EC4-5D40-33DD422337B7}"/>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996926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E1742E18-B778-3E7A-6823-E304E6418123}"/>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3" name="바닥글 개체 틀 2">
            <a:extLst>
              <a:ext uri="{FF2B5EF4-FFF2-40B4-BE49-F238E27FC236}">
                <a16:creationId xmlns:a16="http://schemas.microsoft.com/office/drawing/2014/main" id="{154427EF-3736-0DE9-5D16-C3CA233A1D3E}"/>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2646B4B7-CA4D-CB83-C1C4-4A11E617CC09}"/>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3596436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688CDEB-CFDB-36AE-24AA-CC2D79BD934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91CDE3BB-F5B2-A364-FAA2-AD8BE274DF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텍스트 개체 틀 3">
            <a:extLst>
              <a:ext uri="{FF2B5EF4-FFF2-40B4-BE49-F238E27FC236}">
                <a16:creationId xmlns:a16="http://schemas.microsoft.com/office/drawing/2014/main" id="{C5BD2BAB-7243-45AE-BD72-F7C4C5FF47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6F30035E-BA20-0B72-AEE1-C35786F4B660}"/>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6" name="바닥글 개체 틀 5">
            <a:extLst>
              <a:ext uri="{FF2B5EF4-FFF2-40B4-BE49-F238E27FC236}">
                <a16:creationId xmlns:a16="http://schemas.microsoft.com/office/drawing/2014/main" id="{41FED0A9-387D-A3A0-547B-F3CF489CDFF7}"/>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02E8FDBE-9AF9-B46D-7B4F-DD8C0D6C84C1}"/>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17111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20A064A-5F5F-61F2-37A7-C0323CAB1E6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1C9D009E-A4D1-EA8E-4C9E-3962BE1E0D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C15C9779-0FE5-6977-AB10-DA265448EA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22BADB67-457C-D750-EE24-A8CC8F549BEB}"/>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6" name="바닥글 개체 틀 5">
            <a:extLst>
              <a:ext uri="{FF2B5EF4-FFF2-40B4-BE49-F238E27FC236}">
                <a16:creationId xmlns:a16="http://schemas.microsoft.com/office/drawing/2014/main" id="{C1C1A5A4-4F36-C952-4D14-749B76C6C02D}"/>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DB962289-BEE1-964A-AADF-521B2DB9A5E5}"/>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414774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74A609B-54E0-82D7-B09D-E57517B98EE6}"/>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73E6D7CD-DA65-D698-0997-9B55AB2FDF4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BCA9D314-FE8A-4737-3049-6EA500F8C022}"/>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5" name="바닥글 개체 틀 4">
            <a:extLst>
              <a:ext uri="{FF2B5EF4-FFF2-40B4-BE49-F238E27FC236}">
                <a16:creationId xmlns:a16="http://schemas.microsoft.com/office/drawing/2014/main" id="{73249066-E1A0-F54C-ABB7-81B16140C67C}"/>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7D459F0A-36F3-3336-13C3-9C493BD961E4}"/>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1636878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9D2D750-507C-7ACF-2991-5801AB87D9DC}"/>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17364824-C6AF-06AE-E55B-F50AA20ED3C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0177496C-5B1B-EFFF-27E5-96794AB872BD}"/>
              </a:ext>
            </a:extLst>
          </p:cNvPr>
          <p:cNvSpPr>
            <a:spLocks noGrp="1"/>
          </p:cNvSpPr>
          <p:nvPr>
            <p:ph type="dt" sz="half" idx="10"/>
          </p:nvPr>
        </p:nvSpPr>
        <p:spPr/>
        <p:txBody>
          <a:bodyPr/>
          <a:lstStyle/>
          <a:p>
            <a:fld id="{6A96AB0B-D3D2-2043-8312-C2A66D2B662C}" type="datetimeFigureOut">
              <a:rPr lang="en-US" smtClean="0"/>
              <a:t>8/26/26</a:t>
            </a:fld>
            <a:endParaRPr lang="en-US"/>
          </a:p>
        </p:txBody>
      </p:sp>
      <p:sp>
        <p:nvSpPr>
          <p:cNvPr id="5" name="바닥글 개체 틀 4">
            <a:extLst>
              <a:ext uri="{FF2B5EF4-FFF2-40B4-BE49-F238E27FC236}">
                <a16:creationId xmlns:a16="http://schemas.microsoft.com/office/drawing/2014/main" id="{AECAA5D6-C6DB-6EAE-974C-A67A0ACBB51B}"/>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8B87E0F5-680E-A179-59ED-0FF48D84BC46}"/>
              </a:ext>
            </a:extLst>
          </p:cNvPr>
          <p:cNvSpPr>
            <a:spLocks noGrp="1"/>
          </p:cNvSpPr>
          <p:nvPr>
            <p:ph type="sldNum" sz="quarter" idx="12"/>
          </p:nvPr>
        </p:nvSpPr>
        <p:spPr/>
        <p:txBody>
          <a:bodyPr/>
          <a:lstStyle/>
          <a:p>
            <a:fld id="{18A4D233-3CEE-6847-9AC9-C0C3BB1D67EB}" type="slidenum">
              <a:rPr lang="en-US" smtClean="0"/>
              <a:t>‹#›</a:t>
            </a:fld>
            <a:endParaRPr lang="en-US"/>
          </a:p>
        </p:txBody>
      </p:sp>
    </p:spTree>
    <p:extLst>
      <p:ext uri="{BB962C8B-B14F-4D97-AF65-F5344CB8AC3E}">
        <p14:creationId xmlns:p14="http://schemas.microsoft.com/office/powerpoint/2010/main" val="3744771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C00D25B-4719-A800-72EB-77D8F99201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82831845-E3BE-79E4-3412-C57B226E9F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19159BF6-8C96-86E2-45C0-7EEA3583D7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96AB0B-D3D2-2043-8312-C2A66D2B662C}" type="datetimeFigureOut">
              <a:rPr lang="en-US" smtClean="0"/>
              <a:t>8/26/26</a:t>
            </a:fld>
            <a:endParaRPr lang="en-US"/>
          </a:p>
        </p:txBody>
      </p:sp>
      <p:sp>
        <p:nvSpPr>
          <p:cNvPr id="5" name="바닥글 개체 틀 4">
            <a:extLst>
              <a:ext uri="{FF2B5EF4-FFF2-40B4-BE49-F238E27FC236}">
                <a16:creationId xmlns:a16="http://schemas.microsoft.com/office/drawing/2014/main" id="{FEAA892F-4AD5-C2CA-E586-3F0308A4A9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슬라이드 번호 개체 틀 5">
            <a:extLst>
              <a:ext uri="{FF2B5EF4-FFF2-40B4-BE49-F238E27FC236}">
                <a16:creationId xmlns:a16="http://schemas.microsoft.com/office/drawing/2014/main" id="{8EE05AEE-7869-39F0-8A28-F7AD307993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A4D233-3CEE-6847-9AC9-C0C3BB1D67EB}" type="slidenum">
              <a:rPr lang="en-US" smtClean="0"/>
              <a:t>‹#›</a:t>
            </a:fld>
            <a:endParaRPr lang="en-US"/>
          </a:p>
        </p:txBody>
      </p:sp>
    </p:spTree>
    <p:extLst>
      <p:ext uri="{BB962C8B-B14F-4D97-AF65-F5344CB8AC3E}">
        <p14:creationId xmlns:p14="http://schemas.microsoft.com/office/powerpoint/2010/main" val="27491956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443D6F4C-4969-941E-EF47-3F0B35035249}"/>
              </a:ext>
            </a:extLst>
          </p:cNvPr>
          <p:cNvPicPr>
            <a:picLocks noChangeAspect="1"/>
          </p:cNvPicPr>
          <p:nvPr/>
        </p:nvPicPr>
        <p:blipFill>
          <a:blip r:embed="rId3"/>
          <a:stretch>
            <a:fillRect/>
          </a:stretch>
        </p:blipFill>
        <p:spPr>
          <a:xfrm>
            <a:off x="3642167" y="0"/>
            <a:ext cx="4907666" cy="6858000"/>
          </a:xfrm>
          <a:prstGeom prst="rect">
            <a:avLst/>
          </a:prstGeom>
        </p:spPr>
      </p:pic>
      <p:sp>
        <p:nvSpPr>
          <p:cNvPr id="6" name="TextBox 5">
            <a:extLst>
              <a:ext uri="{FF2B5EF4-FFF2-40B4-BE49-F238E27FC236}">
                <a16:creationId xmlns:a16="http://schemas.microsoft.com/office/drawing/2014/main" id="{A70263A0-05C0-C10B-A9AC-E1A4D8960370}"/>
              </a:ext>
            </a:extLst>
          </p:cNvPr>
          <p:cNvSpPr txBox="1"/>
          <p:nvPr/>
        </p:nvSpPr>
        <p:spPr>
          <a:xfrm>
            <a:off x="3849425" y="182209"/>
            <a:ext cx="1752403" cy="292388"/>
          </a:xfrm>
          <a:prstGeom prst="rect">
            <a:avLst/>
          </a:prstGeom>
          <a:noFill/>
        </p:spPr>
        <p:txBody>
          <a:bodyPr wrap="none" rtlCol="0">
            <a:spAutoFit/>
          </a:bodyPr>
          <a:lstStyle/>
          <a:p>
            <a:r>
              <a:rPr lang="en-US" sz="1300" b="1" dirty="0">
                <a:ln>
                  <a:solidFill>
                    <a:srgbClr val="9773FB"/>
                  </a:solidFill>
                </a:ln>
                <a:solidFill>
                  <a:schemeClr val="bg1"/>
                </a:solidFill>
                <a:effectLst>
                  <a:outerShdw blurRad="50800" dist="38100" dir="5400000" algn="t" rotWithShape="0">
                    <a:prstClr val="black">
                      <a:alpha val="40000"/>
                    </a:prstClr>
                  </a:outerShdw>
                </a:effectLst>
                <a:latin typeface="Bauhaus 93" pitchFamily="82" charset="0"/>
              </a:rPr>
              <a:t>Blue-vary-Smoothie is</a:t>
            </a:r>
          </a:p>
        </p:txBody>
      </p:sp>
      <p:sp>
        <p:nvSpPr>
          <p:cNvPr id="7" name="TextBox 6">
            <a:extLst>
              <a:ext uri="{FF2B5EF4-FFF2-40B4-BE49-F238E27FC236}">
                <a16:creationId xmlns:a16="http://schemas.microsoft.com/office/drawing/2014/main" id="{C39A1C24-FC2A-461B-9E56-300ACFDF950B}"/>
              </a:ext>
            </a:extLst>
          </p:cNvPr>
          <p:cNvSpPr txBox="1"/>
          <p:nvPr/>
        </p:nvSpPr>
        <p:spPr>
          <a:xfrm>
            <a:off x="3730802" y="394490"/>
            <a:ext cx="2033799" cy="524631"/>
          </a:xfrm>
          <a:prstGeom prst="rect">
            <a:avLst/>
          </a:prstGeom>
          <a:noFill/>
        </p:spPr>
        <p:txBody>
          <a:bodyPr wrap="square" rtlCol="0">
            <a:spAutoFit/>
          </a:bodyPr>
          <a:lstStyle/>
          <a:p>
            <a:pPr algn="ctr">
              <a:lnSpc>
                <a:spcPct val="120000"/>
              </a:lnSpc>
            </a:pPr>
            <a:r>
              <a:rPr lang="ko-KR" altLang="ko-KR" sz="600" dirty="0" err="1">
                <a:solidFill>
                  <a:srgbClr val="291F44"/>
                </a:solidFill>
              </a:rPr>
              <a:t>Team</a:t>
            </a:r>
            <a:r>
              <a:rPr lang="ko-KR" altLang="ko-KR" sz="600" dirty="0">
                <a:solidFill>
                  <a:srgbClr val="291F44"/>
                </a:solidFill>
              </a:rPr>
              <a:t> </a:t>
            </a:r>
            <a:r>
              <a:rPr lang="ko-KR" altLang="ko-KR" sz="600" dirty="0" err="1">
                <a:solidFill>
                  <a:srgbClr val="291F44"/>
                </a:solidFill>
              </a:rPr>
              <a:t>Blue</a:t>
            </a:r>
            <a:r>
              <a:rPr lang="en-US" altLang="ko-KR" sz="600" dirty="0">
                <a:solidFill>
                  <a:srgbClr val="291F44"/>
                </a:solidFill>
              </a:rPr>
              <a:t>-vary-</a:t>
            </a:r>
            <a:r>
              <a:rPr lang="ko-KR" altLang="ko-KR" sz="600" dirty="0" err="1">
                <a:solidFill>
                  <a:srgbClr val="291F44"/>
                </a:solidFill>
              </a:rPr>
              <a:t>Smoothie</a:t>
            </a:r>
            <a:r>
              <a:rPr lang="ko-KR" altLang="ko-KR" sz="600" dirty="0">
                <a:solidFill>
                  <a:srgbClr val="291F44"/>
                </a:solidFill>
              </a:rPr>
              <a:t> </a:t>
            </a:r>
            <a:r>
              <a:rPr lang="ko-KR" altLang="ko-KR" sz="600" dirty="0" err="1">
                <a:solidFill>
                  <a:srgbClr val="291F44"/>
                </a:solidFill>
              </a:rPr>
              <a:t>began</a:t>
            </a:r>
            <a:r>
              <a:rPr lang="ko-KR" altLang="ko-KR" sz="600" dirty="0">
                <a:solidFill>
                  <a:srgbClr val="291F44"/>
                </a:solidFill>
              </a:rPr>
              <a:t> </a:t>
            </a:r>
            <a:r>
              <a:rPr lang="ko-KR" altLang="ko-KR" sz="600" dirty="0" err="1">
                <a:solidFill>
                  <a:srgbClr val="291F44"/>
                </a:solidFill>
              </a:rPr>
              <a:t>as</a:t>
            </a:r>
            <a:r>
              <a:rPr lang="ko-KR" altLang="ko-KR" sz="600" dirty="0">
                <a:solidFill>
                  <a:srgbClr val="291F44"/>
                </a:solidFill>
              </a:rPr>
              <a:t> </a:t>
            </a:r>
            <a:r>
              <a:rPr lang="ko-KR" altLang="ko-KR" sz="600" dirty="0" err="1">
                <a:solidFill>
                  <a:srgbClr val="291F44"/>
                </a:solidFill>
              </a:rPr>
              <a:t>part</a:t>
            </a:r>
            <a:r>
              <a:rPr lang="ko-KR" altLang="ko-KR" sz="600" dirty="0">
                <a:solidFill>
                  <a:srgbClr val="291F44"/>
                </a:solidFill>
              </a:rPr>
              <a:t> of </a:t>
            </a:r>
            <a:r>
              <a:rPr lang="ko-KR" altLang="ko-KR" sz="600" dirty="0" err="1">
                <a:solidFill>
                  <a:srgbClr val="291F44"/>
                </a:solidFill>
              </a:rPr>
              <a:t>the</a:t>
            </a:r>
            <a:endParaRPr lang="en-US" altLang="ko-KR" sz="600" dirty="0">
              <a:solidFill>
                <a:srgbClr val="291F44"/>
              </a:solidFill>
            </a:endParaRPr>
          </a:p>
          <a:p>
            <a:pPr algn="ctr">
              <a:lnSpc>
                <a:spcPct val="120000"/>
              </a:lnSpc>
            </a:pPr>
            <a:r>
              <a:rPr lang="ko-KR" altLang="ko-KR" sz="600" dirty="0">
                <a:solidFill>
                  <a:srgbClr val="291F44"/>
                </a:solidFill>
              </a:rPr>
              <a:t>ICT </a:t>
            </a:r>
            <a:r>
              <a:rPr lang="ko-KR" altLang="ko-KR" sz="600" dirty="0" err="1">
                <a:solidFill>
                  <a:srgbClr val="291F44"/>
                </a:solidFill>
              </a:rPr>
              <a:t>Industry</a:t>
            </a:r>
            <a:r>
              <a:rPr lang="ko-KR" altLang="ko-KR" sz="600" dirty="0">
                <a:solidFill>
                  <a:srgbClr val="291F44"/>
                </a:solidFill>
              </a:rPr>
              <a:t> </a:t>
            </a:r>
            <a:r>
              <a:rPr lang="ko-KR" altLang="ko-KR" sz="600" dirty="0" err="1">
                <a:solidFill>
                  <a:srgbClr val="291F44"/>
                </a:solidFill>
              </a:rPr>
              <a:t>Collaboration</a:t>
            </a:r>
            <a:r>
              <a:rPr lang="ko-KR" altLang="ko-KR" sz="600" dirty="0">
                <a:solidFill>
                  <a:srgbClr val="291F44"/>
                </a:solidFill>
              </a:rPr>
              <a:t> Project </a:t>
            </a:r>
            <a:r>
              <a:rPr lang="ko-KR" altLang="ko-KR" sz="600" dirty="0" err="1">
                <a:solidFill>
                  <a:srgbClr val="291F44"/>
                </a:solidFill>
              </a:rPr>
              <a:t>course</a:t>
            </a:r>
            <a:r>
              <a:rPr lang="ko-KR" altLang="ko-KR" sz="600" dirty="0">
                <a:solidFill>
                  <a:srgbClr val="291F44"/>
                </a:solidFill>
              </a:rPr>
              <a:t> </a:t>
            </a:r>
            <a:r>
              <a:rPr lang="ko-KR" altLang="ko-KR" sz="600" dirty="0" err="1">
                <a:solidFill>
                  <a:srgbClr val="291F44"/>
                </a:solidFill>
              </a:rPr>
              <a:t>at</a:t>
            </a:r>
            <a:endParaRPr lang="en-US" altLang="ko-KR" sz="600" dirty="0">
              <a:solidFill>
                <a:srgbClr val="291F44"/>
              </a:solidFill>
            </a:endParaRPr>
          </a:p>
          <a:p>
            <a:pPr algn="ctr">
              <a:lnSpc>
                <a:spcPct val="120000"/>
              </a:lnSpc>
            </a:pPr>
            <a:r>
              <a:rPr lang="ko-KR" altLang="ko-KR" sz="600" dirty="0" err="1">
                <a:solidFill>
                  <a:srgbClr val="291F44"/>
                </a:solidFill>
              </a:rPr>
              <a:t>Yonsei</a:t>
            </a:r>
            <a:r>
              <a:rPr lang="ko-KR" altLang="ko-KR" sz="600" dirty="0">
                <a:solidFill>
                  <a:srgbClr val="291F44"/>
                </a:solidFill>
              </a:rPr>
              <a:t> </a:t>
            </a:r>
            <a:r>
              <a:rPr lang="ko-KR" altLang="ko-KR" sz="600" dirty="0" err="1">
                <a:solidFill>
                  <a:srgbClr val="291F44"/>
                </a:solidFill>
              </a:rPr>
              <a:t>University</a:t>
            </a:r>
            <a:r>
              <a:rPr lang="ko-KR" altLang="ko-KR" sz="600" dirty="0">
                <a:solidFill>
                  <a:srgbClr val="291F44"/>
                </a:solidFill>
              </a:rPr>
              <a:t> </a:t>
            </a:r>
            <a:r>
              <a:rPr lang="ko-KR" altLang="ko-KR" sz="600" dirty="0" err="1">
                <a:solidFill>
                  <a:srgbClr val="291F44"/>
                </a:solidFill>
              </a:rPr>
              <a:t>in</a:t>
            </a:r>
            <a:r>
              <a:rPr lang="ko-KR" altLang="ko-KR" sz="600" dirty="0">
                <a:solidFill>
                  <a:srgbClr val="291F44"/>
                </a:solidFill>
              </a:rPr>
              <a:t> 2022, </a:t>
            </a:r>
            <a:r>
              <a:rPr lang="ko-KR" altLang="ko-KR" sz="600" dirty="0" err="1">
                <a:solidFill>
                  <a:srgbClr val="291F44"/>
                </a:solidFill>
              </a:rPr>
              <a:t>with</a:t>
            </a:r>
            <a:r>
              <a:rPr lang="ko-KR" altLang="ko-KR" sz="600" dirty="0">
                <a:solidFill>
                  <a:srgbClr val="291F44"/>
                </a:solidFill>
              </a:rPr>
              <a:t> </a:t>
            </a:r>
            <a:r>
              <a:rPr lang="ko-KR" altLang="ko-KR" sz="600" dirty="0" err="1">
                <a:solidFill>
                  <a:srgbClr val="291F44"/>
                </a:solidFill>
              </a:rPr>
              <a:t>the</a:t>
            </a:r>
            <a:r>
              <a:rPr lang="ko-KR" altLang="ko-KR" sz="600" dirty="0">
                <a:solidFill>
                  <a:srgbClr val="291F44"/>
                </a:solidFill>
              </a:rPr>
              <a:t> </a:t>
            </a:r>
            <a:r>
              <a:rPr lang="ko-KR" altLang="ko-KR" sz="600" dirty="0" err="1">
                <a:solidFill>
                  <a:srgbClr val="291F44"/>
                </a:solidFill>
              </a:rPr>
              <a:t>goal</a:t>
            </a:r>
            <a:r>
              <a:rPr lang="ko-KR" altLang="ko-KR" sz="600" dirty="0">
                <a:solidFill>
                  <a:srgbClr val="291F44"/>
                </a:solidFill>
              </a:rPr>
              <a:t> of </a:t>
            </a:r>
            <a:r>
              <a:rPr lang="ko-KR" altLang="ko-KR" sz="600" dirty="0" err="1">
                <a:solidFill>
                  <a:srgbClr val="291F44"/>
                </a:solidFill>
              </a:rPr>
              <a:t>preserving</a:t>
            </a:r>
            <a:r>
              <a:rPr lang="ko-KR" altLang="ko-KR" sz="600" dirty="0">
                <a:solidFill>
                  <a:srgbClr val="291F44"/>
                </a:solidFill>
              </a:rPr>
              <a:t> </a:t>
            </a:r>
            <a:r>
              <a:rPr lang="ko-KR" altLang="ko-KR" sz="600" dirty="0" err="1">
                <a:solidFill>
                  <a:srgbClr val="291F44"/>
                </a:solidFill>
              </a:rPr>
              <a:t>local</a:t>
            </a:r>
            <a:r>
              <a:rPr lang="ko-KR" altLang="ko-KR" sz="600" dirty="0">
                <a:solidFill>
                  <a:srgbClr val="291F44"/>
                </a:solidFill>
              </a:rPr>
              <a:t> </a:t>
            </a:r>
            <a:r>
              <a:rPr lang="ko-KR" altLang="ko-KR" sz="600" dirty="0" err="1">
                <a:solidFill>
                  <a:srgbClr val="291F44"/>
                </a:solidFill>
              </a:rPr>
              <a:t>culture</a:t>
            </a:r>
            <a:r>
              <a:rPr lang="ko-KR" altLang="ko-KR" sz="600" dirty="0">
                <a:solidFill>
                  <a:srgbClr val="291F44"/>
                </a:solidFill>
              </a:rPr>
              <a:t> and </a:t>
            </a:r>
            <a:r>
              <a:rPr lang="ko-KR" altLang="ko-KR" sz="600" dirty="0" err="1">
                <a:solidFill>
                  <a:srgbClr val="291F44"/>
                </a:solidFill>
              </a:rPr>
              <a:t>promoting</a:t>
            </a:r>
            <a:r>
              <a:rPr lang="ko-KR" altLang="ko-KR" sz="600" dirty="0">
                <a:solidFill>
                  <a:srgbClr val="291F44"/>
                </a:solidFill>
              </a:rPr>
              <a:t> </a:t>
            </a:r>
            <a:r>
              <a:rPr lang="ko-KR" altLang="ko-KR" sz="600" dirty="0" err="1">
                <a:solidFill>
                  <a:srgbClr val="291F44"/>
                </a:solidFill>
              </a:rPr>
              <a:t>diversity</a:t>
            </a:r>
            <a:r>
              <a:rPr lang="ko-KR" altLang="ko-KR" sz="600" dirty="0">
                <a:solidFill>
                  <a:srgbClr val="291F44"/>
                </a:solidFill>
              </a:rPr>
              <a:t>.</a:t>
            </a:r>
            <a:endParaRPr lang="en-US" sz="600" dirty="0">
              <a:solidFill>
                <a:srgbClr val="291F44"/>
              </a:solidFill>
            </a:endParaRPr>
          </a:p>
        </p:txBody>
      </p:sp>
      <p:sp>
        <p:nvSpPr>
          <p:cNvPr id="8" name="TextBox 7">
            <a:extLst>
              <a:ext uri="{FF2B5EF4-FFF2-40B4-BE49-F238E27FC236}">
                <a16:creationId xmlns:a16="http://schemas.microsoft.com/office/drawing/2014/main" id="{59278529-8E96-5CC1-BD25-A14EE8DA550C}"/>
              </a:ext>
            </a:extLst>
          </p:cNvPr>
          <p:cNvSpPr txBox="1"/>
          <p:nvPr/>
        </p:nvSpPr>
        <p:spPr>
          <a:xfrm>
            <a:off x="3730802" y="998284"/>
            <a:ext cx="1996059" cy="400110"/>
          </a:xfrm>
          <a:prstGeom prst="rect">
            <a:avLst/>
          </a:prstGeom>
          <a:noFill/>
        </p:spPr>
        <p:txBody>
          <a:bodyPr wrap="none" rtlCol="0">
            <a:spAutoFit/>
          </a:bodyPr>
          <a:lstStyle/>
          <a:p>
            <a:r>
              <a:rPr lang="en-US" sz="1000" b="1" dirty="0">
                <a:ln>
                  <a:solidFill>
                    <a:srgbClr val="9773FB"/>
                  </a:solidFill>
                </a:ln>
                <a:solidFill>
                  <a:schemeClr val="bg1"/>
                </a:solidFill>
                <a:effectLst>
                  <a:outerShdw blurRad="50800" dist="38100" dir="5400000" algn="t" rotWithShape="0">
                    <a:prstClr val="black">
                      <a:alpha val="40000"/>
                    </a:prstClr>
                  </a:outerShdw>
                </a:effectLst>
                <a:latin typeface="Bauhaus 93" pitchFamily="82" charset="0"/>
              </a:rPr>
              <a:t>An </a:t>
            </a:r>
            <a:r>
              <a:rPr lang="en-US" sz="1000" b="1" dirty="0">
                <a:ln>
                  <a:solidFill>
                    <a:srgbClr val="9773FB"/>
                  </a:solidFill>
                </a:ln>
                <a:solidFill>
                  <a:srgbClr val="FFCE39"/>
                </a:solidFill>
                <a:effectLst>
                  <a:outerShdw blurRad="50800" dist="38100" dir="5400000" algn="t" rotWithShape="0">
                    <a:prstClr val="black">
                      <a:alpha val="40000"/>
                    </a:prstClr>
                  </a:outerShdw>
                </a:effectLst>
                <a:latin typeface="Bauhaus 93" pitchFamily="82" charset="0"/>
              </a:rPr>
              <a:t>Audio Data–Based</a:t>
            </a:r>
          </a:p>
          <a:p>
            <a:pPr algn="ctr"/>
            <a:r>
              <a:rPr lang="en-US" sz="1000" b="1" dirty="0">
                <a:ln>
                  <a:solidFill>
                    <a:srgbClr val="9773FB"/>
                  </a:solidFill>
                </a:ln>
                <a:solidFill>
                  <a:schemeClr val="bg1"/>
                </a:solidFill>
                <a:effectLst>
                  <a:outerShdw blurRad="50800" dist="38100" dir="5400000" algn="t" rotWithShape="0">
                    <a:prstClr val="black">
                      <a:alpha val="40000"/>
                    </a:prstClr>
                  </a:outerShdw>
                </a:effectLst>
                <a:latin typeface="Bauhaus 93" pitchFamily="82" charset="0"/>
              </a:rPr>
              <a:t>Korean Dialect Learning Service</a:t>
            </a:r>
          </a:p>
        </p:txBody>
      </p:sp>
      <p:sp>
        <p:nvSpPr>
          <p:cNvPr id="9" name="TextBox 8">
            <a:extLst>
              <a:ext uri="{FF2B5EF4-FFF2-40B4-BE49-F238E27FC236}">
                <a16:creationId xmlns:a16="http://schemas.microsoft.com/office/drawing/2014/main" id="{639C772F-78EA-79C1-8B3D-E9D0A31B7E12}"/>
              </a:ext>
            </a:extLst>
          </p:cNvPr>
          <p:cNvSpPr txBox="1"/>
          <p:nvPr/>
        </p:nvSpPr>
        <p:spPr>
          <a:xfrm>
            <a:off x="3746022" y="1385657"/>
            <a:ext cx="1862218" cy="1006558"/>
          </a:xfrm>
          <a:prstGeom prst="rect">
            <a:avLst/>
          </a:prstGeom>
          <a:noFill/>
        </p:spPr>
        <p:txBody>
          <a:bodyPr wrap="square" rtlCol="0">
            <a:spAutoFit/>
          </a:bodyPr>
          <a:lstStyle/>
          <a:p>
            <a:pPr>
              <a:lnSpc>
                <a:spcPct val="120000"/>
              </a:lnSpc>
            </a:pPr>
            <a:r>
              <a:rPr lang="en" altLang="ko-KR" sz="500" dirty="0">
                <a:solidFill>
                  <a:srgbClr val="291F44"/>
                </a:solidFill>
              </a:rPr>
              <a:t>We recognized the distinctive value that characters speaking natural regional dialects bring to popular films and TV dramas. While exploring how actors learn dialects for their roles, we found that there were few effective ways to learn a dialect other than receiving direct help from native speakers.</a:t>
            </a:r>
          </a:p>
          <a:p>
            <a:pPr>
              <a:lnSpc>
                <a:spcPct val="120000"/>
              </a:lnSpc>
            </a:pPr>
            <a:r>
              <a:rPr lang="en" altLang="ko-KR" sz="500" dirty="0">
                <a:solidFill>
                  <a:srgbClr val="291F44"/>
                </a:solidFill>
              </a:rPr>
              <a:t>This inspired us to develop a service that collects and preserves Korean dialect data while enabling users to practice authentic, natural-sounding dialects using the collected data.</a:t>
            </a:r>
          </a:p>
        </p:txBody>
      </p:sp>
      <p:sp>
        <p:nvSpPr>
          <p:cNvPr id="10" name="TextBox 9">
            <a:extLst>
              <a:ext uri="{FF2B5EF4-FFF2-40B4-BE49-F238E27FC236}">
                <a16:creationId xmlns:a16="http://schemas.microsoft.com/office/drawing/2014/main" id="{20974690-62A9-6FC0-7822-58D6A398113A}"/>
              </a:ext>
            </a:extLst>
          </p:cNvPr>
          <p:cNvSpPr txBox="1"/>
          <p:nvPr/>
        </p:nvSpPr>
        <p:spPr>
          <a:xfrm>
            <a:off x="6921589" y="3371726"/>
            <a:ext cx="1285929" cy="338554"/>
          </a:xfrm>
          <a:prstGeom prst="rect">
            <a:avLst/>
          </a:prstGeom>
          <a:noFill/>
        </p:spPr>
        <p:txBody>
          <a:bodyPr wrap="none" rtlCol="0">
            <a:spAutoFit/>
          </a:bodyPr>
          <a:lstStyle/>
          <a:p>
            <a:pPr algn="ctr"/>
            <a:r>
              <a:rPr lang="en-US" sz="800" b="1" dirty="0">
                <a:ln>
                  <a:solidFill>
                    <a:srgbClr val="9773FB"/>
                  </a:solidFill>
                </a:ln>
                <a:solidFill>
                  <a:schemeClr val="bg1"/>
                </a:solidFill>
                <a:effectLst>
                  <a:outerShdw blurRad="50800" dist="38100" dir="5400000" algn="t" rotWithShape="0">
                    <a:prstClr val="black">
                      <a:alpha val="40000"/>
                    </a:prstClr>
                  </a:outerShdw>
                </a:effectLst>
                <a:latin typeface="Bauhaus 93" pitchFamily="82" charset="0"/>
              </a:rPr>
              <a:t>Preserving </a:t>
            </a:r>
            <a:r>
              <a:rPr lang="en-US" sz="800" b="1" dirty="0">
                <a:ln>
                  <a:solidFill>
                    <a:srgbClr val="9773FB"/>
                  </a:solidFill>
                </a:ln>
                <a:solidFill>
                  <a:srgbClr val="FFCE39"/>
                </a:solidFill>
                <a:effectLst>
                  <a:outerShdw blurRad="50800" dist="38100" dir="5400000" algn="t" rotWithShape="0">
                    <a:prstClr val="black">
                      <a:alpha val="40000"/>
                    </a:prstClr>
                  </a:outerShdw>
                </a:effectLst>
                <a:latin typeface="Bauhaus 93" pitchFamily="82" charset="0"/>
              </a:rPr>
              <a:t>Local Culture</a:t>
            </a:r>
          </a:p>
          <a:p>
            <a:pPr algn="ctr"/>
            <a:r>
              <a:rPr lang="en-US" sz="800" b="1" dirty="0">
                <a:ln>
                  <a:solidFill>
                    <a:srgbClr val="9773FB"/>
                  </a:solidFill>
                </a:ln>
                <a:solidFill>
                  <a:schemeClr val="bg1"/>
                </a:solidFill>
                <a:effectLst>
                  <a:outerShdw blurRad="50800" dist="38100" dir="5400000" algn="t" rotWithShape="0">
                    <a:prstClr val="black">
                      <a:alpha val="40000"/>
                    </a:prstClr>
                  </a:outerShdw>
                </a:effectLst>
                <a:latin typeface="Bauhaus 93" pitchFamily="82" charset="0"/>
              </a:rPr>
              <a:t>&amp; Promoting </a:t>
            </a:r>
            <a:r>
              <a:rPr lang="en-US" sz="800" b="1" dirty="0">
                <a:ln>
                  <a:solidFill>
                    <a:srgbClr val="9773FB"/>
                  </a:solidFill>
                </a:ln>
                <a:solidFill>
                  <a:srgbClr val="FFCE39"/>
                </a:solidFill>
                <a:effectLst>
                  <a:outerShdw blurRad="50800" dist="38100" dir="5400000" algn="t" rotWithShape="0">
                    <a:prstClr val="black">
                      <a:alpha val="40000"/>
                    </a:prstClr>
                  </a:outerShdw>
                </a:effectLst>
                <a:latin typeface="Bauhaus 93" pitchFamily="82" charset="0"/>
              </a:rPr>
              <a:t>Diversity</a:t>
            </a:r>
          </a:p>
        </p:txBody>
      </p:sp>
      <p:sp>
        <p:nvSpPr>
          <p:cNvPr id="11" name="TextBox 10">
            <a:extLst>
              <a:ext uri="{FF2B5EF4-FFF2-40B4-BE49-F238E27FC236}">
                <a16:creationId xmlns:a16="http://schemas.microsoft.com/office/drawing/2014/main" id="{7E35ED81-5984-A4DA-9B42-45B9EA1812C0}"/>
              </a:ext>
            </a:extLst>
          </p:cNvPr>
          <p:cNvSpPr txBox="1"/>
          <p:nvPr/>
        </p:nvSpPr>
        <p:spPr>
          <a:xfrm>
            <a:off x="6758780" y="3694976"/>
            <a:ext cx="867545" cy="169277"/>
          </a:xfrm>
          <a:prstGeom prst="rect">
            <a:avLst/>
          </a:prstGeom>
          <a:noFill/>
        </p:spPr>
        <p:txBody>
          <a:bodyPr wrap="none" rtlCol="0">
            <a:spAutoFit/>
          </a:bodyPr>
          <a:lstStyle/>
          <a:p>
            <a:r>
              <a:rPr lang="en-US" sz="500" b="1" i="1" dirty="0">
                <a:solidFill>
                  <a:srgbClr val="9773FB"/>
                </a:solidFill>
                <a:latin typeface="Georgia Pro Cond Semibold" panose="02040706050405020303" pitchFamily="18" charset="0"/>
              </a:rPr>
              <a:t>1. Decline in Dialect Use</a:t>
            </a:r>
          </a:p>
        </p:txBody>
      </p:sp>
      <p:sp>
        <p:nvSpPr>
          <p:cNvPr id="12" name="TextBox 11">
            <a:extLst>
              <a:ext uri="{FF2B5EF4-FFF2-40B4-BE49-F238E27FC236}">
                <a16:creationId xmlns:a16="http://schemas.microsoft.com/office/drawing/2014/main" id="{823FE02B-2CA6-BF85-0DCF-7CD1E9F8EEE6}"/>
              </a:ext>
            </a:extLst>
          </p:cNvPr>
          <p:cNvSpPr txBox="1"/>
          <p:nvPr/>
        </p:nvSpPr>
        <p:spPr>
          <a:xfrm>
            <a:off x="6761251" y="3787309"/>
            <a:ext cx="1591300" cy="531171"/>
          </a:xfrm>
          <a:prstGeom prst="rect">
            <a:avLst/>
          </a:prstGeom>
          <a:noFill/>
        </p:spPr>
        <p:txBody>
          <a:bodyPr wrap="square" rtlCol="0">
            <a:spAutoFit/>
          </a:bodyPr>
          <a:lstStyle/>
          <a:p>
            <a:pPr>
              <a:lnSpc>
                <a:spcPct val="120000"/>
              </a:lnSpc>
            </a:pPr>
            <a:r>
              <a:rPr lang="ko-KR" altLang="ko-KR" sz="400" dirty="0" err="1">
                <a:latin typeface="Helvetica" pitchFamily="2" charset="0"/>
              </a:rPr>
              <a:t>Regional</a:t>
            </a:r>
            <a:r>
              <a:rPr lang="ko-KR" altLang="ko-KR" sz="400" dirty="0">
                <a:latin typeface="Helvetica" pitchFamily="2" charset="0"/>
              </a:rPr>
              <a:t> </a:t>
            </a:r>
            <a:r>
              <a:rPr lang="ko-KR" altLang="ko-KR" sz="400" dirty="0" err="1">
                <a:latin typeface="Helvetica" pitchFamily="2" charset="0"/>
              </a:rPr>
              <a:t>dialects</a:t>
            </a:r>
            <a:r>
              <a:rPr lang="ko-KR" altLang="ko-KR" sz="400" dirty="0">
                <a:latin typeface="Helvetica" pitchFamily="2" charset="0"/>
              </a:rPr>
              <a:t> </a:t>
            </a:r>
            <a:r>
              <a:rPr lang="ko-KR" altLang="ko-KR" sz="400" dirty="0" err="1">
                <a:latin typeface="Helvetica" pitchFamily="2" charset="0"/>
              </a:rPr>
              <a:t>are</a:t>
            </a:r>
            <a:r>
              <a:rPr lang="ko-KR" altLang="ko-KR" sz="400" dirty="0">
                <a:latin typeface="Helvetica" pitchFamily="2" charset="0"/>
              </a:rPr>
              <a:t> </a:t>
            </a:r>
            <a:r>
              <a:rPr lang="ko-KR" altLang="ko-KR" sz="400" dirty="0" err="1">
                <a:latin typeface="Helvetica" pitchFamily="2" charset="0"/>
              </a:rPr>
              <a:t>gradually</a:t>
            </a:r>
            <a:r>
              <a:rPr lang="ko-KR" altLang="ko-KR" sz="400" dirty="0">
                <a:latin typeface="Helvetica" pitchFamily="2" charset="0"/>
              </a:rPr>
              <a:t> </a:t>
            </a:r>
            <a:r>
              <a:rPr lang="ko-KR" altLang="ko-KR" sz="400" dirty="0" err="1">
                <a:latin typeface="Helvetica" pitchFamily="2" charset="0"/>
              </a:rPr>
              <a:t>disappearing</a:t>
            </a:r>
            <a:r>
              <a:rPr lang="ko-KR" altLang="ko-KR" sz="400" dirty="0">
                <a:latin typeface="Helvetica" pitchFamily="2" charset="0"/>
              </a:rPr>
              <a:t> </a:t>
            </a:r>
            <a:r>
              <a:rPr lang="ko-KR" altLang="ko-KR" sz="400" dirty="0" err="1">
                <a:latin typeface="Helvetica" pitchFamily="2" charset="0"/>
              </a:rPr>
              <a:t>due</a:t>
            </a:r>
            <a:r>
              <a:rPr lang="ko-KR" altLang="ko-KR" sz="400" dirty="0">
                <a:latin typeface="Helvetica" pitchFamily="2" charset="0"/>
              </a:rPr>
              <a:t> </a:t>
            </a:r>
            <a:r>
              <a:rPr lang="ko-KR" altLang="ko-KR" sz="400" dirty="0" err="1">
                <a:latin typeface="Helvetica" pitchFamily="2" charset="0"/>
              </a:rPr>
              <a:t>to</a:t>
            </a:r>
            <a:r>
              <a:rPr lang="ko-KR" altLang="ko-KR" sz="400" dirty="0">
                <a:latin typeface="Helvetica" pitchFamily="2" charset="0"/>
              </a:rPr>
              <a:t> </a:t>
            </a:r>
            <a:r>
              <a:rPr lang="ko-KR" altLang="ko-KR" sz="400" dirty="0" err="1">
                <a:latin typeface="Helvetica" pitchFamily="2" charset="0"/>
              </a:rPr>
              <a:t>social</a:t>
            </a:r>
            <a:r>
              <a:rPr lang="ko-KR" altLang="ko-KR" sz="400" dirty="0">
                <a:latin typeface="Helvetica" pitchFamily="2" charset="0"/>
              </a:rPr>
              <a:t> </a:t>
            </a:r>
            <a:r>
              <a:rPr lang="ko-KR" altLang="ko-KR" sz="400" dirty="0" err="1">
                <a:latin typeface="Helvetica" pitchFamily="2" charset="0"/>
              </a:rPr>
              <a:t>preferences</a:t>
            </a:r>
            <a:r>
              <a:rPr lang="ko-KR" altLang="ko-KR" sz="400" dirty="0">
                <a:latin typeface="Helvetica" pitchFamily="2" charset="0"/>
              </a:rPr>
              <a:t> </a:t>
            </a:r>
            <a:r>
              <a:rPr lang="ko-KR" altLang="ko-KR" sz="400" dirty="0" err="1">
                <a:latin typeface="Helvetica" pitchFamily="2" charset="0"/>
              </a:rPr>
              <a:t>for</a:t>
            </a:r>
            <a:r>
              <a:rPr lang="ko-KR" altLang="ko-KR" sz="400" dirty="0">
                <a:latin typeface="Helvetica" pitchFamily="2" charset="0"/>
              </a:rPr>
              <a:t> Standard </a:t>
            </a:r>
            <a:r>
              <a:rPr lang="ko-KR" altLang="ko-KR" sz="400" dirty="0" err="1">
                <a:latin typeface="Helvetica" pitchFamily="2" charset="0"/>
              </a:rPr>
              <a:t>Korean</a:t>
            </a:r>
            <a:r>
              <a:rPr lang="ko-KR" altLang="ko-KR" sz="400" dirty="0">
                <a:latin typeface="Helvetica" pitchFamily="2" charset="0"/>
              </a:rPr>
              <a:t> and </a:t>
            </a:r>
            <a:r>
              <a:rPr lang="ko-KR" altLang="ko-KR" sz="400" dirty="0" err="1">
                <a:latin typeface="Helvetica" pitchFamily="2" charset="0"/>
              </a:rPr>
              <a:t>the</a:t>
            </a:r>
            <a:r>
              <a:rPr lang="ko-KR" altLang="ko-KR" sz="400" dirty="0">
                <a:latin typeface="Helvetica" pitchFamily="2" charset="0"/>
              </a:rPr>
              <a:t> </a:t>
            </a:r>
            <a:r>
              <a:rPr lang="ko-KR" altLang="ko-KR" sz="400" dirty="0" err="1">
                <a:latin typeface="Helvetica" pitchFamily="2" charset="0"/>
              </a:rPr>
              <a:t>decline</a:t>
            </a:r>
            <a:r>
              <a:rPr lang="ko-KR" altLang="ko-KR" sz="400" dirty="0">
                <a:latin typeface="Helvetica" pitchFamily="2" charset="0"/>
              </a:rPr>
              <a:t> of </a:t>
            </a:r>
            <a:r>
              <a:rPr lang="ko-KR" altLang="ko-KR" sz="400" dirty="0" err="1">
                <a:latin typeface="Helvetica" pitchFamily="2" charset="0"/>
              </a:rPr>
              <a:t>regional</a:t>
            </a:r>
            <a:r>
              <a:rPr lang="ko-KR" altLang="ko-KR" sz="400" dirty="0">
                <a:latin typeface="Helvetica" pitchFamily="2" charset="0"/>
              </a:rPr>
              <a:t> </a:t>
            </a:r>
            <a:r>
              <a:rPr lang="ko-KR" altLang="ko-KR" sz="400" dirty="0" err="1">
                <a:latin typeface="Helvetica" pitchFamily="2" charset="0"/>
              </a:rPr>
              <a:t>populations</a:t>
            </a:r>
            <a:r>
              <a:rPr lang="ko-KR" altLang="ko-KR" sz="400" dirty="0">
                <a:latin typeface="Helvetica" pitchFamily="2" charset="0"/>
              </a:rPr>
              <a:t> </a:t>
            </a:r>
            <a:r>
              <a:rPr lang="ko-KR" altLang="ko-KR" sz="400" dirty="0" err="1">
                <a:latin typeface="Helvetica" pitchFamily="2" charset="0"/>
              </a:rPr>
              <a:t>caused</a:t>
            </a:r>
            <a:r>
              <a:rPr lang="ko-KR" altLang="ko-KR" sz="400" dirty="0">
                <a:latin typeface="Helvetica" pitchFamily="2" charset="0"/>
              </a:rPr>
              <a:t> </a:t>
            </a:r>
            <a:r>
              <a:rPr lang="ko-KR" altLang="ko-KR" sz="400" dirty="0" err="1">
                <a:latin typeface="Helvetica" pitchFamily="2" charset="0"/>
              </a:rPr>
              <a:t>by</a:t>
            </a:r>
            <a:r>
              <a:rPr lang="ko-KR" altLang="ko-KR" sz="400" dirty="0">
                <a:latin typeface="Helvetica" pitchFamily="2" charset="0"/>
              </a:rPr>
              <a:t> </a:t>
            </a:r>
            <a:r>
              <a:rPr lang="ko-KR" altLang="ko-KR" sz="400" dirty="0" err="1">
                <a:latin typeface="Helvetica" pitchFamily="2" charset="0"/>
              </a:rPr>
              <a:t>increasing</a:t>
            </a:r>
            <a:r>
              <a:rPr lang="ko-KR" altLang="ko-KR" sz="400" dirty="0">
                <a:latin typeface="Helvetica" pitchFamily="2" charset="0"/>
              </a:rPr>
              <a:t> </a:t>
            </a:r>
            <a:r>
              <a:rPr lang="ko-KR" altLang="ko-KR" sz="400" dirty="0" err="1">
                <a:latin typeface="Helvetica" pitchFamily="2" charset="0"/>
              </a:rPr>
              <a:t>population</a:t>
            </a:r>
            <a:r>
              <a:rPr lang="ko-KR" altLang="ko-KR" sz="400" dirty="0">
                <a:latin typeface="Helvetica" pitchFamily="2" charset="0"/>
              </a:rPr>
              <a:t> </a:t>
            </a:r>
            <a:r>
              <a:rPr lang="ko-KR" altLang="ko-KR" sz="400" dirty="0" err="1">
                <a:latin typeface="Helvetica" pitchFamily="2" charset="0"/>
              </a:rPr>
              <a:t>concentration</a:t>
            </a:r>
            <a:r>
              <a:rPr lang="ko-KR" altLang="ko-KR" sz="400" dirty="0">
                <a:latin typeface="Helvetica" pitchFamily="2" charset="0"/>
              </a:rPr>
              <a:t> </a:t>
            </a:r>
            <a:r>
              <a:rPr lang="ko-KR" altLang="ko-KR" sz="400" dirty="0" err="1">
                <a:latin typeface="Helvetica" pitchFamily="2" charset="0"/>
              </a:rPr>
              <a:t>in</a:t>
            </a:r>
            <a:r>
              <a:rPr lang="ko-KR" altLang="ko-KR" sz="400" dirty="0">
                <a:latin typeface="Helvetica" pitchFamily="2" charset="0"/>
              </a:rPr>
              <a:t> </a:t>
            </a:r>
            <a:r>
              <a:rPr lang="ko-KR" altLang="ko-KR" sz="400" dirty="0" err="1">
                <a:latin typeface="Helvetica" pitchFamily="2" charset="0"/>
              </a:rPr>
              <a:t>the</a:t>
            </a:r>
            <a:r>
              <a:rPr lang="ko-KR" altLang="ko-KR" sz="400" dirty="0">
                <a:latin typeface="Helvetica" pitchFamily="2" charset="0"/>
              </a:rPr>
              <a:t> </a:t>
            </a:r>
            <a:r>
              <a:rPr lang="ko-KR" altLang="ko-KR" sz="400" dirty="0" err="1">
                <a:latin typeface="Helvetica" pitchFamily="2" charset="0"/>
              </a:rPr>
              <a:t>Seoul</a:t>
            </a:r>
            <a:r>
              <a:rPr lang="ko-KR" altLang="ko-KR" sz="400" dirty="0">
                <a:latin typeface="Helvetica" pitchFamily="2" charset="0"/>
              </a:rPr>
              <a:t> </a:t>
            </a:r>
            <a:r>
              <a:rPr lang="ko-KR" altLang="ko-KR" sz="400" dirty="0" err="1">
                <a:latin typeface="Helvetica" pitchFamily="2" charset="0"/>
              </a:rPr>
              <a:t>metropolitan</a:t>
            </a:r>
            <a:r>
              <a:rPr lang="ko-KR" altLang="ko-KR" sz="400" dirty="0">
                <a:latin typeface="Helvetica" pitchFamily="2" charset="0"/>
              </a:rPr>
              <a:t> </a:t>
            </a:r>
            <a:r>
              <a:rPr lang="ko-KR" altLang="ko-KR" sz="400" dirty="0" err="1">
                <a:latin typeface="Helvetica" pitchFamily="2" charset="0"/>
              </a:rPr>
              <a:t>area</a:t>
            </a:r>
            <a:r>
              <a:rPr lang="ko-KR" altLang="ko-KR" sz="400" dirty="0">
                <a:latin typeface="Helvetica" pitchFamily="2" charset="0"/>
              </a:rPr>
              <a:t>.</a:t>
            </a:r>
          </a:p>
          <a:p>
            <a:pPr>
              <a:lnSpc>
                <a:spcPct val="120000"/>
              </a:lnSpc>
            </a:pPr>
            <a:r>
              <a:rPr lang="ko-KR" altLang="ko-KR" sz="400" dirty="0" err="1">
                <a:latin typeface="Helvetica" pitchFamily="2" charset="0"/>
              </a:rPr>
              <a:t>We</a:t>
            </a:r>
            <a:r>
              <a:rPr lang="ko-KR" altLang="ko-KR" sz="400" dirty="0">
                <a:latin typeface="Helvetica" pitchFamily="2" charset="0"/>
              </a:rPr>
              <a:t> </a:t>
            </a:r>
            <a:r>
              <a:rPr lang="ko-KR" altLang="ko-KR" sz="400" dirty="0" err="1">
                <a:latin typeface="Helvetica" pitchFamily="2" charset="0"/>
              </a:rPr>
              <a:t>therefore</a:t>
            </a:r>
            <a:r>
              <a:rPr lang="ko-KR" altLang="ko-KR" sz="400" dirty="0">
                <a:latin typeface="Helvetica" pitchFamily="2" charset="0"/>
              </a:rPr>
              <a:t> </a:t>
            </a:r>
            <a:r>
              <a:rPr lang="ko-KR" altLang="ko-KR" sz="400" dirty="0" err="1">
                <a:latin typeface="Helvetica" pitchFamily="2" charset="0"/>
              </a:rPr>
              <a:t>saw</a:t>
            </a:r>
            <a:r>
              <a:rPr lang="ko-KR" altLang="ko-KR" sz="400" dirty="0">
                <a:latin typeface="Helvetica" pitchFamily="2" charset="0"/>
              </a:rPr>
              <a:t> </a:t>
            </a:r>
            <a:r>
              <a:rPr lang="ko-KR" altLang="ko-KR" sz="400" dirty="0" err="1">
                <a:latin typeface="Helvetica" pitchFamily="2" charset="0"/>
              </a:rPr>
              <a:t>a</a:t>
            </a:r>
            <a:r>
              <a:rPr lang="ko-KR" altLang="ko-KR" sz="400" dirty="0">
                <a:latin typeface="Helvetica" pitchFamily="2" charset="0"/>
              </a:rPr>
              <a:t> </a:t>
            </a:r>
            <a:r>
              <a:rPr lang="ko-KR" altLang="ko-KR" sz="400" dirty="0" err="1">
                <a:latin typeface="Helvetica" pitchFamily="2" charset="0"/>
              </a:rPr>
              <a:t>need</a:t>
            </a:r>
            <a:r>
              <a:rPr lang="ko-KR" altLang="ko-KR" sz="400" dirty="0">
                <a:latin typeface="Helvetica" pitchFamily="2" charset="0"/>
              </a:rPr>
              <a:t> </a:t>
            </a:r>
            <a:r>
              <a:rPr lang="ko-KR" altLang="ko-KR" sz="400" dirty="0" err="1">
                <a:latin typeface="Helvetica" pitchFamily="2" charset="0"/>
              </a:rPr>
              <a:t>to</a:t>
            </a:r>
            <a:r>
              <a:rPr lang="ko-KR" altLang="ko-KR" sz="400" dirty="0">
                <a:latin typeface="Helvetica" pitchFamily="2" charset="0"/>
              </a:rPr>
              <a:t> </a:t>
            </a:r>
            <a:r>
              <a:rPr lang="ko-KR" altLang="ko-KR" sz="400" dirty="0" err="1">
                <a:latin typeface="Helvetica" pitchFamily="2" charset="0"/>
              </a:rPr>
              <a:t>build</a:t>
            </a:r>
            <a:r>
              <a:rPr lang="ko-KR" altLang="ko-KR" sz="400" dirty="0">
                <a:latin typeface="Helvetica" pitchFamily="2" charset="0"/>
              </a:rPr>
              <a:t> </a:t>
            </a:r>
            <a:r>
              <a:rPr lang="ko-KR" altLang="ko-KR" sz="400" dirty="0" err="1">
                <a:latin typeface="Helvetica" pitchFamily="2" charset="0"/>
              </a:rPr>
              <a:t>a</a:t>
            </a:r>
            <a:r>
              <a:rPr lang="ko-KR" altLang="ko-KR" sz="400" dirty="0">
                <a:latin typeface="Helvetica" pitchFamily="2" charset="0"/>
              </a:rPr>
              <a:t> </a:t>
            </a:r>
            <a:r>
              <a:rPr lang="ko-KR" altLang="ko-KR" sz="400" dirty="0" err="1">
                <a:latin typeface="Helvetica" pitchFamily="2" charset="0"/>
              </a:rPr>
              <a:t>database</a:t>
            </a:r>
            <a:r>
              <a:rPr lang="ko-KR" altLang="ko-KR" sz="400" dirty="0">
                <a:latin typeface="Helvetica" pitchFamily="2" charset="0"/>
              </a:rPr>
              <a:t> of </a:t>
            </a:r>
            <a:r>
              <a:rPr lang="ko-KR" altLang="ko-KR" sz="400" dirty="0" err="1">
                <a:latin typeface="Helvetica" pitchFamily="2" charset="0"/>
              </a:rPr>
              <a:t>regional</a:t>
            </a:r>
            <a:r>
              <a:rPr lang="ko-KR" altLang="ko-KR" sz="400" dirty="0">
                <a:latin typeface="Helvetica" pitchFamily="2" charset="0"/>
              </a:rPr>
              <a:t> </a:t>
            </a:r>
            <a:r>
              <a:rPr lang="ko-KR" altLang="ko-KR" sz="400" dirty="0" err="1">
                <a:latin typeface="Helvetica" pitchFamily="2" charset="0"/>
              </a:rPr>
              <a:t>dialects</a:t>
            </a:r>
            <a:r>
              <a:rPr lang="ko-KR" altLang="ko-KR" sz="400" dirty="0">
                <a:latin typeface="Helvetica" pitchFamily="2" charset="0"/>
              </a:rPr>
              <a:t> </a:t>
            </a:r>
            <a:r>
              <a:rPr lang="ko-KR" altLang="ko-KR" sz="400" dirty="0" err="1">
                <a:latin typeface="Helvetica" pitchFamily="2" charset="0"/>
              </a:rPr>
              <a:t>to</a:t>
            </a:r>
            <a:r>
              <a:rPr lang="ko-KR" altLang="ko-KR" sz="400" dirty="0">
                <a:latin typeface="Helvetica" pitchFamily="2" charset="0"/>
              </a:rPr>
              <a:t> </a:t>
            </a:r>
            <a:r>
              <a:rPr lang="ko-KR" altLang="ko-KR" sz="400" dirty="0" err="1">
                <a:latin typeface="Helvetica" pitchFamily="2" charset="0"/>
              </a:rPr>
              <a:t>preserve</a:t>
            </a:r>
            <a:r>
              <a:rPr lang="ko-KR" altLang="ko-KR" sz="400" dirty="0">
                <a:latin typeface="Helvetica" pitchFamily="2" charset="0"/>
              </a:rPr>
              <a:t> </a:t>
            </a:r>
            <a:r>
              <a:rPr lang="ko-KR" altLang="ko-KR" sz="400" dirty="0" err="1">
                <a:latin typeface="Helvetica" pitchFamily="2" charset="0"/>
              </a:rPr>
              <a:t>this</a:t>
            </a:r>
            <a:r>
              <a:rPr lang="ko-KR" altLang="ko-KR" sz="400" dirty="0">
                <a:latin typeface="Helvetica" pitchFamily="2" charset="0"/>
              </a:rPr>
              <a:t> </a:t>
            </a:r>
            <a:r>
              <a:rPr lang="ko-KR" altLang="ko-KR" sz="400" dirty="0" err="1">
                <a:latin typeface="Helvetica" pitchFamily="2" charset="0"/>
              </a:rPr>
              <a:t>linguistic</a:t>
            </a:r>
            <a:r>
              <a:rPr lang="ko-KR" altLang="ko-KR" sz="400" dirty="0">
                <a:latin typeface="Helvetica" pitchFamily="2" charset="0"/>
              </a:rPr>
              <a:t> and </a:t>
            </a:r>
            <a:r>
              <a:rPr lang="ko-KR" altLang="ko-KR" sz="400" dirty="0" err="1">
                <a:latin typeface="Helvetica" pitchFamily="2" charset="0"/>
              </a:rPr>
              <a:t>cultural</a:t>
            </a:r>
            <a:r>
              <a:rPr lang="ko-KR" altLang="ko-KR" sz="400" dirty="0">
                <a:latin typeface="Helvetica" pitchFamily="2" charset="0"/>
              </a:rPr>
              <a:t> </a:t>
            </a:r>
            <a:r>
              <a:rPr lang="ko-KR" altLang="ko-KR" sz="400" dirty="0" err="1">
                <a:latin typeface="Helvetica" pitchFamily="2" charset="0"/>
              </a:rPr>
              <a:t>heritage</a:t>
            </a:r>
            <a:r>
              <a:rPr lang="ko-KR" altLang="ko-KR" sz="400" dirty="0">
                <a:latin typeface="Helvetica" pitchFamily="2" charset="0"/>
              </a:rPr>
              <a:t>.</a:t>
            </a:r>
          </a:p>
        </p:txBody>
      </p:sp>
      <p:sp>
        <p:nvSpPr>
          <p:cNvPr id="13" name="TextBox 12">
            <a:extLst>
              <a:ext uri="{FF2B5EF4-FFF2-40B4-BE49-F238E27FC236}">
                <a16:creationId xmlns:a16="http://schemas.microsoft.com/office/drawing/2014/main" id="{6E519E97-FC5C-9AEF-9365-558BEA41C6FA}"/>
              </a:ext>
            </a:extLst>
          </p:cNvPr>
          <p:cNvSpPr txBox="1"/>
          <p:nvPr/>
        </p:nvSpPr>
        <p:spPr>
          <a:xfrm>
            <a:off x="6758780" y="4291823"/>
            <a:ext cx="1505540" cy="169277"/>
          </a:xfrm>
          <a:prstGeom prst="rect">
            <a:avLst/>
          </a:prstGeom>
          <a:noFill/>
        </p:spPr>
        <p:txBody>
          <a:bodyPr wrap="none" rtlCol="0">
            <a:spAutoFit/>
          </a:bodyPr>
          <a:lstStyle/>
          <a:p>
            <a:r>
              <a:rPr lang="en-US" sz="500" b="1" i="1" dirty="0">
                <a:solidFill>
                  <a:srgbClr val="9773FB"/>
                </a:solidFill>
                <a:latin typeface="Georgia Pro Cond Semibold" panose="02040706050405020303" pitchFamily="18" charset="0"/>
              </a:rPr>
              <a:t>2. The Importance of Dialects in Korean Media</a:t>
            </a:r>
          </a:p>
        </p:txBody>
      </p:sp>
      <p:sp>
        <p:nvSpPr>
          <p:cNvPr id="14" name="TextBox 13">
            <a:extLst>
              <a:ext uri="{FF2B5EF4-FFF2-40B4-BE49-F238E27FC236}">
                <a16:creationId xmlns:a16="http://schemas.microsoft.com/office/drawing/2014/main" id="{5C755837-3CEA-FD48-04D7-9C015751BFB8}"/>
              </a:ext>
            </a:extLst>
          </p:cNvPr>
          <p:cNvSpPr txBox="1"/>
          <p:nvPr/>
        </p:nvSpPr>
        <p:spPr>
          <a:xfrm>
            <a:off x="6761251" y="4384156"/>
            <a:ext cx="1591300" cy="383438"/>
          </a:xfrm>
          <a:prstGeom prst="rect">
            <a:avLst/>
          </a:prstGeom>
          <a:noFill/>
        </p:spPr>
        <p:txBody>
          <a:bodyPr wrap="square" rtlCol="0">
            <a:spAutoFit/>
          </a:bodyPr>
          <a:lstStyle/>
          <a:p>
            <a:pPr>
              <a:lnSpc>
                <a:spcPct val="120000"/>
              </a:lnSpc>
            </a:pPr>
            <a:r>
              <a:rPr lang="en" altLang="ko-KR" sz="400" dirty="0">
                <a:latin typeface="Helvetica" pitchFamily="2" charset="0"/>
              </a:rPr>
              <a:t>In films and TV dramas spanning diverse genres, historical periods, and regional settings, dialects have become an essential element for creating realistic settings and giving characters and dialogue a distinctive and memorable identity.</a:t>
            </a:r>
            <a:endParaRPr lang="ko-KR" altLang="ko-KR" sz="400" dirty="0">
              <a:latin typeface="Helvetica" pitchFamily="2" charset="0"/>
            </a:endParaRPr>
          </a:p>
        </p:txBody>
      </p:sp>
      <p:sp>
        <p:nvSpPr>
          <p:cNvPr id="15" name="TextBox 14">
            <a:extLst>
              <a:ext uri="{FF2B5EF4-FFF2-40B4-BE49-F238E27FC236}">
                <a16:creationId xmlns:a16="http://schemas.microsoft.com/office/drawing/2014/main" id="{0D08E53D-A9FE-1B0D-81CF-7B8845AEA471}"/>
              </a:ext>
            </a:extLst>
          </p:cNvPr>
          <p:cNvSpPr txBox="1"/>
          <p:nvPr/>
        </p:nvSpPr>
        <p:spPr>
          <a:xfrm>
            <a:off x="6758780" y="4739458"/>
            <a:ext cx="1265090" cy="169277"/>
          </a:xfrm>
          <a:prstGeom prst="rect">
            <a:avLst/>
          </a:prstGeom>
          <a:noFill/>
        </p:spPr>
        <p:txBody>
          <a:bodyPr wrap="none" rtlCol="0">
            <a:spAutoFit/>
          </a:bodyPr>
          <a:lstStyle/>
          <a:p>
            <a:r>
              <a:rPr lang="en-US" sz="500" b="1" i="1" dirty="0">
                <a:solidFill>
                  <a:srgbClr val="9773FB"/>
                </a:solidFill>
                <a:latin typeface="Georgia Pro Cond Semibold" panose="02040706050405020303" pitchFamily="18" charset="0"/>
              </a:rPr>
              <a:t>3. Lack of Dialect Learning Platforms</a:t>
            </a:r>
          </a:p>
        </p:txBody>
      </p:sp>
      <p:sp>
        <p:nvSpPr>
          <p:cNvPr id="16" name="TextBox 15">
            <a:extLst>
              <a:ext uri="{FF2B5EF4-FFF2-40B4-BE49-F238E27FC236}">
                <a16:creationId xmlns:a16="http://schemas.microsoft.com/office/drawing/2014/main" id="{159AEA8C-11B9-021E-D222-7901985C151F}"/>
              </a:ext>
            </a:extLst>
          </p:cNvPr>
          <p:cNvSpPr txBox="1"/>
          <p:nvPr/>
        </p:nvSpPr>
        <p:spPr>
          <a:xfrm>
            <a:off x="6761251" y="4831791"/>
            <a:ext cx="1648168" cy="531171"/>
          </a:xfrm>
          <a:prstGeom prst="rect">
            <a:avLst/>
          </a:prstGeom>
          <a:noFill/>
        </p:spPr>
        <p:txBody>
          <a:bodyPr wrap="square" rtlCol="0">
            <a:spAutoFit/>
          </a:bodyPr>
          <a:lstStyle/>
          <a:p>
            <a:pPr>
              <a:lnSpc>
                <a:spcPct val="120000"/>
              </a:lnSpc>
            </a:pPr>
            <a:r>
              <a:rPr lang="en" altLang="ko-KR" sz="400" dirty="0">
                <a:latin typeface="Helvetica" pitchFamily="2" charset="0"/>
              </a:rPr>
              <a:t>Although demand for natural dialect speaking skills is increasing, we found that there are few platforms offering dedicated video materials or learning services for dialect learners.</a:t>
            </a:r>
          </a:p>
          <a:p>
            <a:pPr>
              <a:lnSpc>
                <a:spcPct val="120000"/>
              </a:lnSpc>
            </a:pPr>
            <a:r>
              <a:rPr lang="en" altLang="ko-KR" sz="400" dirty="0">
                <a:latin typeface="Helvetica" pitchFamily="2" charset="0"/>
              </a:rPr>
              <a:t>This led us to identify the need for a learning platform built around structured audio data rather than relying primarily on existing video content.</a:t>
            </a:r>
            <a:endParaRPr lang="ko-KR" altLang="ko-KR" sz="400" dirty="0">
              <a:latin typeface="Helvetica" pitchFamily="2" charset="0"/>
            </a:endParaRPr>
          </a:p>
        </p:txBody>
      </p:sp>
      <p:sp>
        <p:nvSpPr>
          <p:cNvPr id="17" name="TextBox 16">
            <a:extLst>
              <a:ext uri="{FF2B5EF4-FFF2-40B4-BE49-F238E27FC236}">
                <a16:creationId xmlns:a16="http://schemas.microsoft.com/office/drawing/2014/main" id="{A3F4F648-C7E1-E397-1F0C-4D1A6095726E}"/>
              </a:ext>
            </a:extLst>
          </p:cNvPr>
          <p:cNvSpPr txBox="1"/>
          <p:nvPr/>
        </p:nvSpPr>
        <p:spPr>
          <a:xfrm>
            <a:off x="4747701" y="5613495"/>
            <a:ext cx="1061509" cy="246221"/>
          </a:xfrm>
          <a:prstGeom prst="rect">
            <a:avLst/>
          </a:prstGeom>
          <a:noFill/>
        </p:spPr>
        <p:txBody>
          <a:bodyPr wrap="none" rtlCol="0">
            <a:spAutoFit/>
          </a:bodyPr>
          <a:lstStyle/>
          <a:p>
            <a:pPr algn="r"/>
            <a:r>
              <a:rPr lang="en-US" sz="1000" b="1" dirty="0">
                <a:ln w="3175">
                  <a:solidFill>
                    <a:srgbClr val="9773FB"/>
                  </a:solidFill>
                </a:ln>
                <a:solidFill>
                  <a:schemeClr val="bg1"/>
                </a:solidFill>
                <a:effectLst>
                  <a:outerShdw blurRad="50800" dist="38100" dir="5400000" algn="t" rotWithShape="0">
                    <a:prstClr val="black">
                      <a:alpha val="40000"/>
                    </a:prstClr>
                  </a:outerShdw>
                </a:effectLst>
                <a:latin typeface="Bauhaus 93" pitchFamily="82" charset="0"/>
              </a:rPr>
              <a:t>Content Search</a:t>
            </a:r>
          </a:p>
        </p:txBody>
      </p:sp>
      <p:sp>
        <p:nvSpPr>
          <p:cNvPr id="18" name="TextBox 17">
            <a:extLst>
              <a:ext uri="{FF2B5EF4-FFF2-40B4-BE49-F238E27FC236}">
                <a16:creationId xmlns:a16="http://schemas.microsoft.com/office/drawing/2014/main" id="{0F271EB3-3A0F-5E38-29ED-ECD087244EB4}"/>
              </a:ext>
            </a:extLst>
          </p:cNvPr>
          <p:cNvSpPr txBox="1"/>
          <p:nvPr/>
        </p:nvSpPr>
        <p:spPr>
          <a:xfrm>
            <a:off x="4774953" y="5977826"/>
            <a:ext cx="1034257" cy="246221"/>
          </a:xfrm>
          <a:prstGeom prst="rect">
            <a:avLst/>
          </a:prstGeom>
          <a:noFill/>
        </p:spPr>
        <p:txBody>
          <a:bodyPr wrap="none" rtlCol="0">
            <a:spAutoFit/>
          </a:bodyPr>
          <a:lstStyle/>
          <a:p>
            <a:pPr algn="r"/>
            <a:r>
              <a:rPr lang="en-US" sz="1000" b="1" dirty="0">
                <a:ln w="3175">
                  <a:solidFill>
                    <a:schemeClr val="bg1"/>
                  </a:solidFill>
                </a:ln>
                <a:solidFill>
                  <a:srgbClr val="9773FB"/>
                </a:solidFill>
                <a:effectLst>
                  <a:outerShdw blurRad="50800" dist="38100" dir="5400000" algn="t" rotWithShape="0">
                    <a:prstClr val="black">
                      <a:alpha val="40000"/>
                    </a:prstClr>
                  </a:outerShdw>
                </a:effectLst>
                <a:latin typeface="Bauhaus 93" pitchFamily="82" charset="0"/>
              </a:rPr>
              <a:t>Saved Content</a:t>
            </a:r>
          </a:p>
        </p:txBody>
      </p:sp>
      <p:sp>
        <p:nvSpPr>
          <p:cNvPr id="19" name="TextBox 18">
            <a:extLst>
              <a:ext uri="{FF2B5EF4-FFF2-40B4-BE49-F238E27FC236}">
                <a16:creationId xmlns:a16="http://schemas.microsoft.com/office/drawing/2014/main" id="{11DC7D17-CA33-6885-D64E-E3BE4152CC9C}"/>
              </a:ext>
            </a:extLst>
          </p:cNvPr>
          <p:cNvSpPr txBox="1"/>
          <p:nvPr/>
        </p:nvSpPr>
        <p:spPr>
          <a:xfrm>
            <a:off x="4673963" y="6335013"/>
            <a:ext cx="1135247" cy="246221"/>
          </a:xfrm>
          <a:prstGeom prst="rect">
            <a:avLst/>
          </a:prstGeom>
          <a:noFill/>
        </p:spPr>
        <p:txBody>
          <a:bodyPr wrap="none" rtlCol="0">
            <a:spAutoFit/>
          </a:bodyPr>
          <a:lstStyle/>
          <a:p>
            <a:pPr algn="r"/>
            <a:r>
              <a:rPr lang="en-US" sz="1000" b="1" dirty="0">
                <a:ln w="3175">
                  <a:solidFill>
                    <a:srgbClr val="9773FB"/>
                  </a:solidFill>
                </a:ln>
                <a:solidFill>
                  <a:schemeClr val="bg1"/>
                </a:solidFill>
                <a:effectLst>
                  <a:outerShdw blurRad="50800" dist="38100" dir="5400000" algn="t" rotWithShape="0">
                    <a:prstClr val="black">
                      <a:alpha val="40000"/>
                    </a:prstClr>
                  </a:outerShdw>
                </a:effectLst>
                <a:latin typeface="Bauhaus 93" pitchFamily="82" charset="0"/>
              </a:rPr>
              <a:t>Recent Practice</a:t>
            </a:r>
          </a:p>
        </p:txBody>
      </p:sp>
      <p:sp>
        <p:nvSpPr>
          <p:cNvPr id="20" name="TextBox 19">
            <a:extLst>
              <a:ext uri="{FF2B5EF4-FFF2-40B4-BE49-F238E27FC236}">
                <a16:creationId xmlns:a16="http://schemas.microsoft.com/office/drawing/2014/main" id="{34BAE90A-7045-0B93-B44D-4BFF39881A55}"/>
              </a:ext>
            </a:extLst>
          </p:cNvPr>
          <p:cNvSpPr txBox="1"/>
          <p:nvPr/>
        </p:nvSpPr>
        <p:spPr>
          <a:xfrm>
            <a:off x="3797186" y="5781234"/>
            <a:ext cx="2012024" cy="179216"/>
          </a:xfrm>
          <a:prstGeom prst="rect">
            <a:avLst/>
          </a:prstGeom>
          <a:noFill/>
        </p:spPr>
        <p:txBody>
          <a:bodyPr wrap="square" rtlCol="0">
            <a:spAutoFit/>
          </a:bodyPr>
          <a:lstStyle/>
          <a:p>
            <a:pPr algn="r">
              <a:lnSpc>
                <a:spcPct val="120000"/>
              </a:lnSpc>
            </a:pPr>
            <a:r>
              <a:rPr lang="en" altLang="ko-KR" sz="500" dirty="0">
                <a:solidFill>
                  <a:srgbClr val="291F44"/>
                </a:solidFill>
                <a:latin typeface="Helvetica" pitchFamily="2" charset="0"/>
              </a:rPr>
              <a:t>Search content by region, situation, or speaker</a:t>
            </a:r>
            <a:endParaRPr lang="ko-KR" altLang="ko-KR" sz="500" dirty="0">
              <a:solidFill>
                <a:srgbClr val="291F44"/>
              </a:solidFill>
              <a:latin typeface="Helvetica" pitchFamily="2" charset="0"/>
            </a:endParaRPr>
          </a:p>
        </p:txBody>
      </p:sp>
      <p:sp>
        <p:nvSpPr>
          <p:cNvPr id="21" name="TextBox 20">
            <a:extLst>
              <a:ext uri="{FF2B5EF4-FFF2-40B4-BE49-F238E27FC236}">
                <a16:creationId xmlns:a16="http://schemas.microsoft.com/office/drawing/2014/main" id="{047A118A-B18D-A925-7D4F-DA66337C483E}"/>
              </a:ext>
            </a:extLst>
          </p:cNvPr>
          <p:cNvSpPr txBox="1"/>
          <p:nvPr/>
        </p:nvSpPr>
        <p:spPr>
          <a:xfrm>
            <a:off x="3313972" y="6148159"/>
            <a:ext cx="2495238" cy="179216"/>
          </a:xfrm>
          <a:prstGeom prst="rect">
            <a:avLst/>
          </a:prstGeom>
          <a:noFill/>
        </p:spPr>
        <p:txBody>
          <a:bodyPr wrap="square" rtlCol="0">
            <a:spAutoFit/>
          </a:bodyPr>
          <a:lstStyle/>
          <a:p>
            <a:pPr algn="r">
              <a:lnSpc>
                <a:spcPct val="120000"/>
              </a:lnSpc>
            </a:pPr>
            <a:r>
              <a:rPr lang="en" altLang="ko-KR" sz="500" dirty="0">
                <a:solidFill>
                  <a:srgbClr val="291F44"/>
                </a:solidFill>
                <a:latin typeface="Helvetica" pitchFamily="2" charset="0"/>
              </a:rPr>
              <a:t>Save your favorite content for quick and easy access anytime</a:t>
            </a:r>
            <a:endParaRPr lang="ko-KR" altLang="ko-KR" sz="500" dirty="0">
              <a:solidFill>
                <a:srgbClr val="291F44"/>
              </a:solidFill>
              <a:latin typeface="Helvetica" pitchFamily="2" charset="0"/>
            </a:endParaRPr>
          </a:p>
        </p:txBody>
      </p:sp>
      <p:sp>
        <p:nvSpPr>
          <p:cNvPr id="22" name="TextBox 21">
            <a:extLst>
              <a:ext uri="{FF2B5EF4-FFF2-40B4-BE49-F238E27FC236}">
                <a16:creationId xmlns:a16="http://schemas.microsoft.com/office/drawing/2014/main" id="{627D4D00-8F51-7ECA-DB52-2C325F9366C3}"/>
              </a:ext>
            </a:extLst>
          </p:cNvPr>
          <p:cNvSpPr txBox="1"/>
          <p:nvPr/>
        </p:nvSpPr>
        <p:spPr>
          <a:xfrm>
            <a:off x="3185839" y="6480138"/>
            <a:ext cx="2623371" cy="179216"/>
          </a:xfrm>
          <a:prstGeom prst="rect">
            <a:avLst/>
          </a:prstGeom>
          <a:noFill/>
        </p:spPr>
        <p:txBody>
          <a:bodyPr wrap="square" rtlCol="0">
            <a:spAutoFit/>
          </a:bodyPr>
          <a:lstStyle/>
          <a:p>
            <a:pPr algn="r">
              <a:lnSpc>
                <a:spcPct val="120000"/>
              </a:lnSpc>
            </a:pPr>
            <a:r>
              <a:rPr lang="en" altLang="ko-KR" sz="500" dirty="0">
                <a:solidFill>
                  <a:srgbClr val="291F44"/>
                </a:solidFill>
                <a:latin typeface="Helvetica" pitchFamily="2" charset="0"/>
              </a:rPr>
              <a:t>Practice makes perfect! Quickly revisit your recent learning history</a:t>
            </a:r>
            <a:endParaRPr lang="ko-KR" altLang="ko-KR" sz="500" dirty="0">
              <a:solidFill>
                <a:srgbClr val="291F44"/>
              </a:solidFill>
              <a:latin typeface="Helvetica" pitchFamily="2" charset="0"/>
            </a:endParaRPr>
          </a:p>
        </p:txBody>
      </p:sp>
      <p:sp>
        <p:nvSpPr>
          <p:cNvPr id="26" name="TextBox 25">
            <a:extLst>
              <a:ext uri="{FF2B5EF4-FFF2-40B4-BE49-F238E27FC236}">
                <a16:creationId xmlns:a16="http://schemas.microsoft.com/office/drawing/2014/main" id="{FBC59CE0-A7FA-F5D3-37ED-C7F9533237B0}"/>
              </a:ext>
            </a:extLst>
          </p:cNvPr>
          <p:cNvSpPr txBox="1"/>
          <p:nvPr/>
        </p:nvSpPr>
        <p:spPr>
          <a:xfrm>
            <a:off x="6518791" y="5781234"/>
            <a:ext cx="2856034" cy="271549"/>
          </a:xfrm>
          <a:prstGeom prst="rect">
            <a:avLst/>
          </a:prstGeom>
          <a:noFill/>
        </p:spPr>
        <p:txBody>
          <a:bodyPr wrap="square" rtlCol="0">
            <a:spAutoFit/>
          </a:bodyPr>
          <a:lstStyle/>
          <a:p>
            <a:pPr>
              <a:lnSpc>
                <a:spcPct val="120000"/>
              </a:lnSpc>
            </a:pPr>
            <a:r>
              <a:rPr lang="en" altLang="ko-KR" sz="500" dirty="0">
                <a:solidFill>
                  <a:srgbClr val="291F44"/>
                </a:solidFill>
                <a:latin typeface="Helvetica" pitchFamily="2" charset="0"/>
              </a:rPr>
              <a:t>Search and explore expressions</a:t>
            </a:r>
          </a:p>
          <a:p>
            <a:pPr>
              <a:lnSpc>
                <a:spcPct val="120000"/>
              </a:lnSpc>
            </a:pPr>
            <a:r>
              <a:rPr lang="en" altLang="ko-KR" sz="500" dirty="0">
                <a:solidFill>
                  <a:srgbClr val="291F44"/>
                </a:solidFill>
                <a:latin typeface="Helvetica" pitchFamily="2" charset="0"/>
              </a:rPr>
              <a:t>by converting between regional dialects and Standard Korean</a:t>
            </a:r>
            <a:endParaRPr lang="ko-KR" altLang="ko-KR" sz="500" dirty="0">
              <a:solidFill>
                <a:srgbClr val="291F44"/>
              </a:solidFill>
              <a:latin typeface="Helvetica" pitchFamily="2" charset="0"/>
            </a:endParaRPr>
          </a:p>
        </p:txBody>
      </p:sp>
      <p:sp>
        <p:nvSpPr>
          <p:cNvPr id="27" name="TextBox 26">
            <a:extLst>
              <a:ext uri="{FF2B5EF4-FFF2-40B4-BE49-F238E27FC236}">
                <a16:creationId xmlns:a16="http://schemas.microsoft.com/office/drawing/2014/main" id="{FFE69228-7197-448C-63F5-C08455AB5645}"/>
              </a:ext>
            </a:extLst>
          </p:cNvPr>
          <p:cNvSpPr txBox="1"/>
          <p:nvPr/>
        </p:nvSpPr>
        <p:spPr>
          <a:xfrm>
            <a:off x="6505919" y="6134091"/>
            <a:ext cx="2495238" cy="271549"/>
          </a:xfrm>
          <a:prstGeom prst="rect">
            <a:avLst/>
          </a:prstGeom>
          <a:noFill/>
        </p:spPr>
        <p:txBody>
          <a:bodyPr wrap="square" rtlCol="0">
            <a:spAutoFit/>
          </a:bodyPr>
          <a:lstStyle/>
          <a:p>
            <a:pPr>
              <a:lnSpc>
                <a:spcPct val="120000"/>
              </a:lnSpc>
            </a:pPr>
            <a:r>
              <a:rPr lang="en" altLang="ko-KR" sz="500" dirty="0">
                <a:solidFill>
                  <a:srgbClr val="291F44"/>
                </a:solidFill>
                <a:latin typeface="Helvetica" pitchFamily="2" charset="0"/>
              </a:rPr>
              <a:t>Practice with friends or mentors</a:t>
            </a:r>
          </a:p>
          <a:p>
            <a:pPr>
              <a:lnSpc>
                <a:spcPct val="120000"/>
              </a:lnSpc>
            </a:pPr>
            <a:r>
              <a:rPr lang="en" altLang="ko-KR" sz="500" dirty="0">
                <a:solidFill>
                  <a:srgbClr val="291F44"/>
                </a:solidFill>
                <a:latin typeface="Helvetica" pitchFamily="2" charset="0"/>
              </a:rPr>
              <a:t>while viewing scripts and sharing your screen</a:t>
            </a:r>
            <a:endParaRPr lang="ko-KR" altLang="ko-KR" sz="500" dirty="0">
              <a:solidFill>
                <a:srgbClr val="291F44"/>
              </a:solidFill>
              <a:latin typeface="Helvetica" pitchFamily="2" charset="0"/>
            </a:endParaRPr>
          </a:p>
        </p:txBody>
      </p:sp>
      <p:sp>
        <p:nvSpPr>
          <p:cNvPr id="28" name="TextBox 27">
            <a:extLst>
              <a:ext uri="{FF2B5EF4-FFF2-40B4-BE49-F238E27FC236}">
                <a16:creationId xmlns:a16="http://schemas.microsoft.com/office/drawing/2014/main" id="{EDDB2A3F-9434-656E-0C65-52E53887D0E1}"/>
              </a:ext>
            </a:extLst>
          </p:cNvPr>
          <p:cNvSpPr txBox="1"/>
          <p:nvPr/>
        </p:nvSpPr>
        <p:spPr>
          <a:xfrm>
            <a:off x="6501593" y="6494206"/>
            <a:ext cx="2623371" cy="179216"/>
          </a:xfrm>
          <a:prstGeom prst="rect">
            <a:avLst/>
          </a:prstGeom>
          <a:noFill/>
        </p:spPr>
        <p:txBody>
          <a:bodyPr wrap="square" rtlCol="0">
            <a:spAutoFit/>
          </a:bodyPr>
          <a:lstStyle/>
          <a:p>
            <a:pPr>
              <a:lnSpc>
                <a:spcPct val="120000"/>
              </a:lnSpc>
            </a:pPr>
            <a:r>
              <a:rPr lang="en" altLang="ko-KR" sz="500" dirty="0">
                <a:solidFill>
                  <a:srgbClr val="291F44"/>
                </a:solidFill>
                <a:latin typeface="Helvetica" pitchFamily="2" charset="0"/>
              </a:rPr>
              <a:t>All features and services are powered by dialect audio data</a:t>
            </a:r>
            <a:endParaRPr lang="ko-KR" altLang="ko-KR" sz="500" dirty="0">
              <a:solidFill>
                <a:srgbClr val="291F44"/>
              </a:solidFill>
              <a:latin typeface="Helvetica" pitchFamily="2" charset="0"/>
            </a:endParaRPr>
          </a:p>
        </p:txBody>
      </p:sp>
      <p:sp>
        <p:nvSpPr>
          <p:cNvPr id="32" name="TextBox 31">
            <a:extLst>
              <a:ext uri="{FF2B5EF4-FFF2-40B4-BE49-F238E27FC236}">
                <a16:creationId xmlns:a16="http://schemas.microsoft.com/office/drawing/2014/main" id="{8E6B0560-8743-AC69-00FC-772DB9480F60}"/>
              </a:ext>
            </a:extLst>
          </p:cNvPr>
          <p:cNvSpPr txBox="1"/>
          <p:nvPr/>
        </p:nvSpPr>
        <p:spPr>
          <a:xfrm>
            <a:off x="6501593" y="5610901"/>
            <a:ext cx="1289135" cy="246221"/>
          </a:xfrm>
          <a:prstGeom prst="rect">
            <a:avLst/>
          </a:prstGeom>
          <a:noFill/>
        </p:spPr>
        <p:txBody>
          <a:bodyPr wrap="none" rtlCol="0">
            <a:spAutoFit/>
          </a:bodyPr>
          <a:lstStyle/>
          <a:p>
            <a:r>
              <a:rPr lang="en-US" sz="1000" b="1" dirty="0">
                <a:ln w="3175">
                  <a:solidFill>
                    <a:schemeClr val="bg1"/>
                  </a:solidFill>
                </a:ln>
                <a:solidFill>
                  <a:srgbClr val="9773FB"/>
                </a:solidFill>
                <a:effectLst>
                  <a:outerShdw blurRad="50800" dist="38100" dir="5400000" algn="t" rotWithShape="0">
                    <a:prstClr val="black">
                      <a:alpha val="40000"/>
                    </a:prstClr>
                  </a:outerShdw>
                </a:effectLst>
                <a:latin typeface="Bauhaus 93" pitchFamily="82" charset="0"/>
              </a:rPr>
              <a:t>Dialect Dictionary</a:t>
            </a:r>
          </a:p>
        </p:txBody>
      </p:sp>
      <p:sp>
        <p:nvSpPr>
          <p:cNvPr id="33" name="TextBox 32">
            <a:extLst>
              <a:ext uri="{FF2B5EF4-FFF2-40B4-BE49-F238E27FC236}">
                <a16:creationId xmlns:a16="http://schemas.microsoft.com/office/drawing/2014/main" id="{2D26AF4C-45EB-98AF-3C53-736068CDEDD2}"/>
              </a:ext>
            </a:extLst>
          </p:cNvPr>
          <p:cNvSpPr txBox="1"/>
          <p:nvPr/>
        </p:nvSpPr>
        <p:spPr>
          <a:xfrm>
            <a:off x="6497637" y="5979737"/>
            <a:ext cx="1258678" cy="246221"/>
          </a:xfrm>
          <a:prstGeom prst="rect">
            <a:avLst/>
          </a:prstGeom>
          <a:noFill/>
        </p:spPr>
        <p:txBody>
          <a:bodyPr wrap="none" rtlCol="0">
            <a:spAutoFit/>
          </a:bodyPr>
          <a:lstStyle/>
          <a:p>
            <a:r>
              <a:rPr lang="en-US" sz="1000" b="1" dirty="0">
                <a:ln w="3175">
                  <a:solidFill>
                    <a:srgbClr val="9773FB"/>
                  </a:solidFill>
                </a:ln>
                <a:solidFill>
                  <a:schemeClr val="bg1"/>
                </a:solidFill>
                <a:effectLst>
                  <a:outerShdw blurRad="50800" dist="38100" dir="5400000" algn="t" rotWithShape="0">
                    <a:prstClr val="black">
                      <a:alpha val="40000"/>
                    </a:prstClr>
                  </a:outerShdw>
                </a:effectLst>
                <a:latin typeface="Bauhaus 93" pitchFamily="82" charset="0"/>
              </a:rPr>
              <a:t>My Practice Room</a:t>
            </a:r>
          </a:p>
        </p:txBody>
      </p:sp>
      <p:sp>
        <p:nvSpPr>
          <p:cNvPr id="34" name="TextBox 33">
            <a:extLst>
              <a:ext uri="{FF2B5EF4-FFF2-40B4-BE49-F238E27FC236}">
                <a16:creationId xmlns:a16="http://schemas.microsoft.com/office/drawing/2014/main" id="{55BC2863-4BFB-F2F5-7B7A-E969B548C076}"/>
              </a:ext>
            </a:extLst>
          </p:cNvPr>
          <p:cNvSpPr txBox="1"/>
          <p:nvPr/>
        </p:nvSpPr>
        <p:spPr>
          <a:xfrm>
            <a:off x="6501593" y="6323873"/>
            <a:ext cx="832279" cy="246221"/>
          </a:xfrm>
          <a:prstGeom prst="rect">
            <a:avLst/>
          </a:prstGeom>
          <a:noFill/>
        </p:spPr>
        <p:txBody>
          <a:bodyPr wrap="none" rtlCol="0">
            <a:spAutoFit/>
          </a:bodyPr>
          <a:lstStyle/>
          <a:p>
            <a:r>
              <a:rPr lang="en-US" sz="1000" b="1" dirty="0">
                <a:ln w="3175">
                  <a:solidFill>
                    <a:schemeClr val="bg1"/>
                  </a:solidFill>
                </a:ln>
                <a:solidFill>
                  <a:srgbClr val="9773FB"/>
                </a:solidFill>
                <a:effectLst>
                  <a:outerShdw blurRad="50800" dist="38100" dir="5400000" algn="t" rotWithShape="0">
                    <a:prstClr val="black">
                      <a:alpha val="40000"/>
                    </a:prstClr>
                  </a:outerShdw>
                </a:effectLst>
                <a:latin typeface="Bauhaus 93" pitchFamily="82" charset="0"/>
              </a:rPr>
              <a:t>Audio Data</a:t>
            </a:r>
          </a:p>
        </p:txBody>
      </p:sp>
    </p:spTree>
    <p:extLst>
      <p:ext uri="{BB962C8B-B14F-4D97-AF65-F5344CB8AC3E}">
        <p14:creationId xmlns:p14="http://schemas.microsoft.com/office/powerpoint/2010/main" val="26441345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364</Words>
  <Application>Microsoft Macintosh PowerPoint</Application>
  <PresentationFormat>와이드스크린</PresentationFormat>
  <Paragraphs>33</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Bauhaus 93</vt:lpstr>
      <vt:lpstr>Georgia Pro Cond Semibold</vt:lpstr>
      <vt:lpstr>Helvetica</vt:lpstr>
      <vt:lpstr>Office 테마</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정다운</dc:creator>
  <cp:lastModifiedBy>정다운</cp:lastModifiedBy>
  <cp:revision>2</cp:revision>
  <dcterms:created xsi:type="dcterms:W3CDTF">2026-08-26T08:34:46Z</dcterms:created>
  <dcterms:modified xsi:type="dcterms:W3CDTF">2026-08-26T09:39:24Z</dcterms:modified>
</cp:coreProperties>
</file>